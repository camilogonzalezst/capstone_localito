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ton" panose="020F0502020204030204" pitchFamily="2" charset="0"/>
      <p:regular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Bold Italics" panose="020B0604020202020204" charset="0"/>
      <p:regular r:id="rId17"/>
    </p:embeddedFont>
    <p:embeddedFont>
      <p:font typeface="Inter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671618" y="4579250"/>
            <a:ext cx="22211183" cy="8117178"/>
          </a:xfrm>
          <a:custGeom>
            <a:avLst/>
            <a:gdLst/>
            <a:ahLst/>
            <a:cxnLst/>
            <a:rect l="l" t="t" r="r" b="b"/>
            <a:pathLst>
              <a:path w="22211183" h="8117178">
                <a:moveTo>
                  <a:pt x="0" y="0"/>
                </a:moveTo>
                <a:lnTo>
                  <a:pt x="22211182" y="0"/>
                </a:lnTo>
                <a:lnTo>
                  <a:pt x="22211182" y="8117177"/>
                </a:lnTo>
                <a:lnTo>
                  <a:pt x="0" y="8117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028700" y="506709"/>
            <a:ext cx="1613887" cy="16138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143669"/>
            <a:ext cx="9509470" cy="421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65"/>
              </a:lnSpc>
            </a:pPr>
            <a:r>
              <a:rPr lang="en-US" sz="16265" spc="-2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PROPUESTA DE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96796"/>
            <a:ext cx="7144891" cy="49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89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Equipo Localito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52844"/>
            <a:ext cx="96899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1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LOCALITO · DIGITALIZANDO EL COMERCIO DE BARRIO</a:t>
            </a:r>
          </a:p>
          <a:p>
            <a:pPr algn="l">
              <a:lnSpc>
                <a:spcPts val="6945"/>
              </a:lnSpc>
            </a:pPr>
            <a:endParaRPr lang="en-US" sz="2761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3822" y="7853786"/>
            <a:ext cx="4027380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Ingeniería en Informática · Capstone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576300"/>
            <a:ext cx="4574738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Camilo Gonzalez · Samuel Solís · Alexander Patiño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4884" y="8215043"/>
            <a:ext cx="471911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Profesor</a:t>
            </a: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Álvaro  Andrés </a:t>
            </a:r>
            <a:r>
              <a:rPr lang="en-US" sz="15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Mellado</a:t>
            </a: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Pimentel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1517" y="1445795"/>
            <a:ext cx="4611615" cy="7395410"/>
            <a:chOff x="0" y="0"/>
            <a:chExt cx="714460" cy="1145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460" cy="1145743"/>
            </a:xfrm>
            <a:custGeom>
              <a:avLst/>
              <a:gdLst/>
              <a:ahLst/>
              <a:cxnLst/>
              <a:rect l="l" t="t" r="r" b="b"/>
              <a:pathLst>
                <a:path w="714460" h="1145743">
                  <a:moveTo>
                    <a:pt x="41970" y="0"/>
                  </a:moveTo>
                  <a:lnTo>
                    <a:pt x="672490" y="0"/>
                  </a:lnTo>
                  <a:cubicBezTo>
                    <a:pt x="695669" y="0"/>
                    <a:pt x="714460" y="18790"/>
                    <a:pt x="714460" y="41970"/>
                  </a:cubicBezTo>
                  <a:lnTo>
                    <a:pt x="714460" y="1103773"/>
                  </a:lnTo>
                  <a:cubicBezTo>
                    <a:pt x="714460" y="1126952"/>
                    <a:pt x="695669" y="1145743"/>
                    <a:pt x="672490" y="1145743"/>
                  </a:cubicBezTo>
                  <a:lnTo>
                    <a:pt x="41970" y="1145743"/>
                  </a:lnTo>
                  <a:cubicBezTo>
                    <a:pt x="30839" y="1145743"/>
                    <a:pt x="20163" y="1141321"/>
                    <a:pt x="12293" y="1133450"/>
                  </a:cubicBezTo>
                  <a:cubicBezTo>
                    <a:pt x="4422" y="1125579"/>
                    <a:pt x="0" y="1114904"/>
                    <a:pt x="0" y="1103773"/>
                  </a:cubicBezTo>
                  <a:lnTo>
                    <a:pt x="0" y="41970"/>
                  </a:lnTo>
                  <a:cubicBezTo>
                    <a:pt x="0" y="18790"/>
                    <a:pt x="18790" y="0"/>
                    <a:pt x="41970" y="0"/>
                  </a:cubicBezTo>
                  <a:close/>
                </a:path>
              </a:pathLst>
            </a:custGeom>
            <a:blipFill>
              <a:blip r:embed="rId2"/>
              <a:stretch>
                <a:fillRect l="-15120" r="-12535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349548" y="3608296"/>
            <a:ext cx="9842856" cy="342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nace de una realidad presente en muchos almacenes, minimarkets, botillerías y comercios de barrio: gran parte de su gestión diaria todavía se realiza mediante cuadernos, memoria, planillas separadas o sistemas que no se adaptan a sus necesidades.</a:t>
            </a:r>
          </a:p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Esto dificulta conocer el stock real, controlar la caja, gestionar fiados y tomar decisiones con información confiable.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82652" y="1741070"/>
            <a:ext cx="9613762" cy="1980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66"/>
              </a:lnSpc>
              <a:spcBef>
                <a:spcPct val="0"/>
              </a:spcBef>
            </a:pPr>
            <a:r>
              <a:rPr lang="en-US" sz="14966" u="none" strike="noStrike" spc="-26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2652" y="7025568"/>
            <a:ext cx="4806881" cy="43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3235" spc="-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Nuestro objetivo es claro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49548" y="7572283"/>
            <a:ext cx="10176784" cy="83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Desarrollar y validar una solución simple, móvil y segura que centralice la gestión del negocio en un solo lugar.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452356" y="221756"/>
            <a:ext cx="1613887" cy="16138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Freeform 10"/>
          <p:cNvSpPr/>
          <p:nvPr/>
        </p:nvSpPr>
        <p:spPr>
          <a:xfrm>
            <a:off x="-3756043" y="8408487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23076" y="2028084"/>
            <a:ext cx="4426458" cy="3308675"/>
            <a:chOff x="0" y="0"/>
            <a:chExt cx="955596" cy="7142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5596" cy="714286"/>
            </a:xfrm>
            <a:custGeom>
              <a:avLst/>
              <a:gdLst/>
              <a:ahLst/>
              <a:cxnLst/>
              <a:rect l="l" t="t" r="r" b="b"/>
              <a:pathLst>
                <a:path w="955596" h="714286">
                  <a:moveTo>
                    <a:pt x="80454" y="0"/>
                  </a:moveTo>
                  <a:lnTo>
                    <a:pt x="875142" y="0"/>
                  </a:lnTo>
                  <a:cubicBezTo>
                    <a:pt x="919576" y="0"/>
                    <a:pt x="955596" y="36021"/>
                    <a:pt x="955596" y="80454"/>
                  </a:cubicBezTo>
                  <a:lnTo>
                    <a:pt x="955596" y="633832"/>
                  </a:lnTo>
                  <a:cubicBezTo>
                    <a:pt x="955596" y="678266"/>
                    <a:pt x="919576" y="714286"/>
                    <a:pt x="875142" y="714286"/>
                  </a:cubicBezTo>
                  <a:lnTo>
                    <a:pt x="80454" y="714286"/>
                  </a:lnTo>
                  <a:cubicBezTo>
                    <a:pt x="59117" y="714286"/>
                    <a:pt x="38653" y="705810"/>
                    <a:pt x="23565" y="690722"/>
                  </a:cubicBezTo>
                  <a:cubicBezTo>
                    <a:pt x="8476" y="675634"/>
                    <a:pt x="0" y="655170"/>
                    <a:pt x="0" y="633832"/>
                  </a:cubicBezTo>
                  <a:lnTo>
                    <a:pt x="0" y="80454"/>
                  </a:lnTo>
                  <a:cubicBezTo>
                    <a:pt x="0" y="59117"/>
                    <a:pt x="8476" y="38653"/>
                    <a:pt x="23565" y="23565"/>
                  </a:cubicBezTo>
                  <a:cubicBezTo>
                    <a:pt x="38653" y="8476"/>
                    <a:pt x="59117" y="0"/>
                    <a:pt x="80454" y="0"/>
                  </a:cubicBezTo>
                  <a:close/>
                </a:path>
              </a:pathLst>
            </a:custGeom>
            <a:blipFill>
              <a:blip r:embed="rId2"/>
              <a:stretch>
                <a:fillRect t="-168" b="-16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23076" y="5643192"/>
            <a:ext cx="4426458" cy="3308675"/>
            <a:chOff x="0" y="0"/>
            <a:chExt cx="955596" cy="7142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5596" cy="714286"/>
            </a:xfrm>
            <a:custGeom>
              <a:avLst/>
              <a:gdLst/>
              <a:ahLst/>
              <a:cxnLst/>
              <a:rect l="l" t="t" r="r" b="b"/>
              <a:pathLst>
                <a:path w="955596" h="714286">
                  <a:moveTo>
                    <a:pt x="61215" y="0"/>
                  </a:moveTo>
                  <a:lnTo>
                    <a:pt x="894381" y="0"/>
                  </a:lnTo>
                  <a:cubicBezTo>
                    <a:pt x="910616" y="0"/>
                    <a:pt x="926187" y="6449"/>
                    <a:pt x="937667" y="17930"/>
                  </a:cubicBezTo>
                  <a:cubicBezTo>
                    <a:pt x="949147" y="29410"/>
                    <a:pt x="955596" y="44980"/>
                    <a:pt x="955596" y="61215"/>
                  </a:cubicBezTo>
                  <a:lnTo>
                    <a:pt x="955596" y="653071"/>
                  </a:lnTo>
                  <a:cubicBezTo>
                    <a:pt x="955596" y="686879"/>
                    <a:pt x="928189" y="714286"/>
                    <a:pt x="894381" y="714286"/>
                  </a:cubicBezTo>
                  <a:lnTo>
                    <a:pt x="61215" y="714286"/>
                  </a:lnTo>
                  <a:cubicBezTo>
                    <a:pt x="44980" y="714286"/>
                    <a:pt x="29410" y="707837"/>
                    <a:pt x="17930" y="696357"/>
                  </a:cubicBezTo>
                  <a:cubicBezTo>
                    <a:pt x="6449" y="684877"/>
                    <a:pt x="0" y="669306"/>
                    <a:pt x="0" y="653071"/>
                  </a:cubicBezTo>
                  <a:lnTo>
                    <a:pt x="0" y="61215"/>
                  </a:lnTo>
                  <a:cubicBezTo>
                    <a:pt x="0" y="44980"/>
                    <a:pt x="6449" y="29410"/>
                    <a:pt x="17930" y="17930"/>
                  </a:cubicBezTo>
                  <a:cubicBezTo>
                    <a:pt x="29410" y="6449"/>
                    <a:pt x="44980" y="0"/>
                    <a:pt x="61215" y="0"/>
                  </a:cubicBezTo>
                  <a:close/>
                </a:path>
              </a:pathLst>
            </a:custGeom>
            <a:blipFill>
              <a:blip r:embed="rId3"/>
              <a:stretch>
                <a:fillRect l="-21188" r="-2118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607737"/>
            <a:ext cx="9613762" cy="194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EL 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8789" y="4474963"/>
            <a:ext cx="9353585" cy="464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Muchos comercios de barrio todavía gestionan sus operaciones de forma manual o fragmentada. Ventas, inventario, caja y cuentas fiadas pueden quedar repartidas entre cuadernos, memoria, planillas o sistemas separados.</a:t>
            </a:r>
          </a:p>
          <a:p>
            <a:pPr algn="l">
              <a:lnSpc>
                <a:spcPts val="3683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683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 falta de centralización dificulta conocer el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stock rea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l, detectar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diferencias de caja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controlar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deudas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realizar reposiciones a tiempo y tomar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decisiones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información confiable.</a:t>
            </a:r>
          </a:p>
          <a:p>
            <a:pPr algn="l">
              <a:lnSpc>
                <a:spcPts val="3683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3373320" y="832268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23918" y="1938610"/>
            <a:ext cx="1064272" cy="10642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65520" y="1938610"/>
            <a:ext cx="1064272" cy="106427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23918" y="5006084"/>
            <a:ext cx="1064272" cy="10642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65520" y="5006084"/>
            <a:ext cx="1064272" cy="10642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12686" y="301811"/>
            <a:ext cx="1613887" cy="16138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074451"/>
            <a:ext cx="6663544" cy="379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NUESTRA SOLUCIÓN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936571"/>
            <a:ext cx="6168403" cy="42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Todo el negocio, en un solo lugar.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2187" y="2200540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3918" y="3237879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centralizada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3918" y="3572749"/>
            <a:ext cx="2869977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Ventas, inventario y caja</a:t>
            </a:r>
          </a:p>
          <a:p>
            <a:pPr algn="l">
              <a:lnSpc>
                <a:spcPts val="2138"/>
              </a:lnSpc>
            </a:pPr>
            <a:endParaRPr lang="en-US" sz="1727" b="1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83788" y="2200540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5520" y="3237879"/>
            <a:ext cx="301181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Clientes y fiados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2741" y="3576905"/>
            <a:ext cx="2734391" cy="2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Mayor control de deudas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2187" y="5268013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23918" y="6305353"/>
            <a:ext cx="3210209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Acceso simple y móvil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23918" y="6648957"/>
            <a:ext cx="2734391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PWA para el día a día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83788" y="5268013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65520" y="6305353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 aplicada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65520" y="6640222"/>
            <a:ext cx="375568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Automatización</a:t>
            </a:r>
            <a:r>
              <a:rPr lang="en-US" sz="17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asistencia</a:t>
            </a:r>
            <a:endParaRPr lang="en-US" sz="17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138"/>
              </a:lnSpc>
            </a:pP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23918" y="3844727"/>
            <a:ext cx="27343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Controla las operaciones principales desde un solo lugar.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65520" y="3875009"/>
            <a:ext cx="2711612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Registra clientes, compras y cuentas pendientes.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23918" y="6951217"/>
            <a:ext cx="2734391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Gestiona el negocio desde computador o celular.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65520" y="6942482"/>
            <a:ext cx="3034597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Simplifica tareas mediante códigos, IA y herramientas asistidas.</a:t>
            </a:r>
          </a:p>
        </p:txBody>
      </p:sp>
      <p:sp>
        <p:nvSpPr>
          <p:cNvPr id="34" name="Freeform 34"/>
          <p:cNvSpPr/>
          <p:nvPr/>
        </p:nvSpPr>
        <p:spPr>
          <a:xfrm>
            <a:off x="-3413347" y="7321999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8692" y="6520843"/>
            <a:ext cx="6987811" cy="565616"/>
            <a:chOff x="0" y="0"/>
            <a:chExt cx="2137363" cy="173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173005"/>
            </a:xfrm>
            <a:custGeom>
              <a:avLst/>
              <a:gdLst/>
              <a:ahLst/>
              <a:cxnLst/>
              <a:rect l="l" t="t" r="r" b="b"/>
              <a:pathLst>
                <a:path w="2137363" h="173005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16501"/>
                  </a:lnTo>
                  <a:cubicBezTo>
                    <a:pt x="2137363" y="131487"/>
                    <a:pt x="2131410" y="145859"/>
                    <a:pt x="2120813" y="156456"/>
                  </a:cubicBezTo>
                  <a:cubicBezTo>
                    <a:pt x="2110217" y="167052"/>
                    <a:pt x="2095845" y="173005"/>
                    <a:pt x="2080859" y="173005"/>
                  </a:cubicBezTo>
                  <a:lnTo>
                    <a:pt x="56504" y="173005"/>
                  </a:lnTo>
                  <a:cubicBezTo>
                    <a:pt x="41518" y="173005"/>
                    <a:pt x="27146" y="167052"/>
                    <a:pt x="16550" y="156456"/>
                  </a:cubicBezTo>
                  <a:cubicBezTo>
                    <a:pt x="5953" y="145859"/>
                    <a:pt x="0" y="131487"/>
                    <a:pt x="0" y="116501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7074" y="6587376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968692" y="7245963"/>
            <a:ext cx="6987811" cy="785767"/>
            <a:chOff x="0" y="0"/>
            <a:chExt cx="2137363" cy="2403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240343"/>
            </a:xfrm>
            <a:custGeom>
              <a:avLst/>
              <a:gdLst/>
              <a:ahLst/>
              <a:cxnLst/>
              <a:rect l="l" t="t" r="r" b="b"/>
              <a:pathLst>
                <a:path w="2137363" h="240343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83839"/>
                  </a:lnTo>
                  <a:cubicBezTo>
                    <a:pt x="2137363" y="198825"/>
                    <a:pt x="2131410" y="213196"/>
                    <a:pt x="2120813" y="223793"/>
                  </a:cubicBezTo>
                  <a:cubicBezTo>
                    <a:pt x="2110217" y="234390"/>
                    <a:pt x="2095845" y="240343"/>
                    <a:pt x="2080859" y="240343"/>
                  </a:cubicBezTo>
                  <a:lnTo>
                    <a:pt x="56504" y="240343"/>
                  </a:lnTo>
                  <a:cubicBezTo>
                    <a:pt x="41518" y="240343"/>
                    <a:pt x="27146" y="234390"/>
                    <a:pt x="16550" y="223793"/>
                  </a:cubicBezTo>
                  <a:cubicBezTo>
                    <a:pt x="5953" y="213196"/>
                    <a:pt x="0" y="198825"/>
                    <a:pt x="0" y="183839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37363" cy="278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47074" y="7438884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1"/>
                </a:lnTo>
                <a:lnTo>
                  <a:pt x="0" y="43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968692" y="8223378"/>
            <a:ext cx="6987811" cy="865821"/>
            <a:chOff x="0" y="0"/>
            <a:chExt cx="2137363" cy="264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7363" cy="264829"/>
            </a:xfrm>
            <a:custGeom>
              <a:avLst/>
              <a:gdLst/>
              <a:ahLst/>
              <a:cxnLst/>
              <a:rect l="l" t="t" r="r" b="b"/>
              <a:pathLst>
                <a:path w="2137363" h="264829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208325"/>
                  </a:lnTo>
                  <a:cubicBezTo>
                    <a:pt x="2137363" y="223311"/>
                    <a:pt x="2131410" y="237683"/>
                    <a:pt x="2120813" y="248279"/>
                  </a:cubicBezTo>
                  <a:cubicBezTo>
                    <a:pt x="2110217" y="258876"/>
                    <a:pt x="2095845" y="264829"/>
                    <a:pt x="2080859" y="264829"/>
                  </a:cubicBezTo>
                  <a:lnTo>
                    <a:pt x="56504" y="264829"/>
                  </a:lnTo>
                  <a:cubicBezTo>
                    <a:pt x="41518" y="264829"/>
                    <a:pt x="27146" y="258876"/>
                    <a:pt x="16550" y="248279"/>
                  </a:cubicBezTo>
                  <a:cubicBezTo>
                    <a:pt x="5953" y="237683"/>
                    <a:pt x="0" y="223311"/>
                    <a:pt x="0" y="208325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7363" cy="30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47074" y="8440014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11291344" y="1772271"/>
            <a:ext cx="5246370" cy="5181705"/>
            <a:chOff x="0" y="0"/>
            <a:chExt cx="955596" cy="943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5596" cy="943818"/>
            </a:xfrm>
            <a:custGeom>
              <a:avLst/>
              <a:gdLst/>
              <a:ahLst/>
              <a:cxnLst/>
              <a:rect l="l" t="t" r="r" b="b"/>
              <a:pathLst>
                <a:path w="955596" h="943818">
                  <a:moveTo>
                    <a:pt x="0" y="0"/>
                  </a:moveTo>
                  <a:lnTo>
                    <a:pt x="955596" y="0"/>
                  </a:lnTo>
                  <a:lnTo>
                    <a:pt x="955596" y="943818"/>
                  </a:lnTo>
                  <a:lnTo>
                    <a:pt x="0" y="943818"/>
                  </a:lnTo>
                  <a:close/>
                </a:path>
              </a:pathLst>
            </a:custGeom>
            <a:blipFill>
              <a:blip r:embed="rId3"/>
              <a:stretch>
                <a:fillRect l="-21169" r="-1048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88604" y="980088"/>
            <a:ext cx="9613762" cy="379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QUIÉN NOS DIRIGIMOS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8692" y="4529456"/>
            <a:ext cx="7868381" cy="17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está pensado principalmente para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dueños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trabajadores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pequeños comercios de barrio que necesitan administrar su negocio de forma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simple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sin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depender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sistemas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complejos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196" y="6607867"/>
            <a:ext cx="6002257" cy="3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ALMACENES, BAZARES Y MINIMARKETS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1196" y="7256124"/>
            <a:ext cx="6778363" cy="14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NEGOCIOS CON GESTIÓN MANUAL O DESORDENADA</a:t>
            </a: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21188" y="8289856"/>
            <a:ext cx="6378057" cy="14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COMERCIANTES CON DISTINTA EXPERIENCIA DIGITAL</a:t>
            </a: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896833" y="7207863"/>
            <a:ext cx="4035392" cy="232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Buscamos facilitar la gestión diaria de negocios que n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sita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ntrol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ar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ve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tas, inv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ntari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, 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aja y f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i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ad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os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desde 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un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 sola pla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af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rma, accesible desde el computador o celular.</a:t>
            </a:r>
          </a:p>
          <a:p>
            <a:pPr algn="ctr">
              <a:lnSpc>
                <a:spcPts val="2640"/>
              </a:lnSpc>
            </a:pPr>
            <a:endParaRPr lang="en-US" sz="1885" i="1">
              <a:solidFill>
                <a:srgbClr val="FFFFFF"/>
              </a:solidFill>
              <a:latin typeface="Inter Italics"/>
              <a:ea typeface="Inter Italics"/>
              <a:cs typeface="Inter Italics"/>
              <a:sym typeface="Inter Itali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6452356" y="158384"/>
            <a:ext cx="1613887" cy="161388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4" name="Freeform 24"/>
          <p:cNvSpPr/>
          <p:nvPr/>
        </p:nvSpPr>
        <p:spPr>
          <a:xfrm>
            <a:off x="-2746032" y="8872564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2" y="0"/>
                </a:lnTo>
                <a:lnTo>
                  <a:pt x="22211182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2931" y="386400"/>
            <a:ext cx="13292828" cy="379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FUNCIONALIDADES PRINCIPALES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28869" y="4119952"/>
            <a:ext cx="10230261" cy="852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integra las principales operaciones de un comercio de barrio en una sola plataforma.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2241" y="5930420"/>
            <a:ext cx="3459080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VENTAS Y CAJA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2241" y="6580804"/>
            <a:ext cx="3459080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Registro de ventas, medios de pago, control de caja y seguimiento de cuentas fiadas.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787" y="5930420"/>
            <a:ext cx="3579162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INVENTARIO Y GESTIÓN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787" y="6580804"/>
            <a:ext cx="3459080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Administración de productos, stock, clientes, compras y proveedores desde un mismo sistema.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6679" y="5930420"/>
            <a:ext cx="4139545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 Y MOVILIDAD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16679" y="6580804"/>
            <a:ext cx="4419736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PWA accesible desde distintos dispositivos, lectura de códigos de barras, funcionamiento ante fallas de conexión y herramientas asistidas.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6743651" y="5426709"/>
            <a:ext cx="0" cy="2403441"/>
          </a:xfrm>
          <a:prstGeom prst="line">
            <a:avLst/>
          </a:prstGeom>
          <a:ln w="38100" cap="flat">
            <a:solidFill>
              <a:srgbClr val="24497B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11" name="AutoShape 11"/>
          <p:cNvSpPr/>
          <p:nvPr/>
        </p:nvSpPr>
        <p:spPr>
          <a:xfrm flipV="1">
            <a:off x="11819004" y="5426709"/>
            <a:ext cx="0" cy="2403441"/>
          </a:xfrm>
          <a:prstGeom prst="line">
            <a:avLst/>
          </a:prstGeom>
          <a:ln w="38100" cap="flat">
            <a:solidFill>
              <a:srgbClr val="24497B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-3413347" y="7798555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3" name="Group 13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597700" y="6650138"/>
            <a:ext cx="1566160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028700" y="6099003"/>
            <a:ext cx="1102269" cy="110226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81338" y="6099003"/>
            <a:ext cx="1102269" cy="11022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5696" y="6099003"/>
            <a:ext cx="1102269" cy="110226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70054" y="6099003"/>
            <a:ext cx="1102269" cy="110226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674113" y="78684"/>
            <a:ext cx="1613887" cy="161388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Freeform 17"/>
          <p:cNvSpPr/>
          <p:nvPr/>
        </p:nvSpPr>
        <p:spPr>
          <a:xfrm>
            <a:off x="9144000" y="1740197"/>
            <a:ext cx="8115300" cy="4103299"/>
          </a:xfrm>
          <a:custGeom>
            <a:avLst/>
            <a:gdLst/>
            <a:ahLst/>
            <a:cxnLst/>
            <a:rect l="l" t="t" r="r" b="b"/>
            <a:pathLst>
              <a:path w="8115300" h="4103299">
                <a:moveTo>
                  <a:pt x="0" y="0"/>
                </a:moveTo>
                <a:lnTo>
                  <a:pt x="8115300" y="0"/>
                </a:lnTo>
                <a:lnTo>
                  <a:pt x="8115300" y="4103298"/>
                </a:lnTo>
                <a:lnTo>
                  <a:pt x="0" y="410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882172" y="1117221"/>
            <a:ext cx="8696861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16"/>
              </a:lnSpc>
            </a:pPr>
            <a:r>
              <a:rPr lang="en-US" sz="7516" spc="-1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 GENERAL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0978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ANALIZAR Y VALIDAR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152153"/>
            <a:ext cx="2715518" cy="1102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5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Identificar las principales necesidades operacionales y comerciales de los comercios de barrio.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83616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81338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DEFINIR Y DISEÑAR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1338" y="7821554"/>
            <a:ext cx="2832014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Alcance y arquitectura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77974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5696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IMPLEMENTAR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5696" y="7844641"/>
            <a:ext cx="2832014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MVP de Localito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72332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70054" y="7442619"/>
            <a:ext cx="3489246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VERIFICAR Y EVALUAR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74560" y="7844641"/>
            <a:ext cx="3299615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Calidad y propuesta de valor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2173" y="2165402"/>
            <a:ext cx="7798954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8"/>
              </a:lnSpc>
              <a:spcBef>
                <a:spcPct val="0"/>
              </a:spcBef>
            </a:pP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Diseñar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implementar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PWA SaaS multi-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negocio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que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permita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pequeños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comercios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barrio,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gestionar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ventas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inventario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clientes,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fiados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caja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compras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desde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dispositivos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móviles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aplicando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seguridad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trazabilidad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pruebas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un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suscripción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sujeto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validación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7787146"/>
            <a:ext cx="27813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Necesidades</a:t>
            </a:r>
            <a:r>
              <a:rPr lang="en-US" sz="17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del </a:t>
            </a: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usuario</a:t>
            </a:r>
            <a:endParaRPr lang="en-US" sz="17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181338" y="8152153"/>
            <a:ext cx="2536293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Definir requisitos, backlog, arquitectura multi-negocio y modelo de datos.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5696" y="8152153"/>
            <a:ext cx="2457395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Desarrollar e integrar los módulos prioritarios y la experiencia PWA.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94228" y="8152153"/>
            <a:ext cx="31236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Verificar seguridad, usabilidad y funcionamiento, y validar la solución con usuarios.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6524" y="4823890"/>
            <a:ext cx="8257476" cy="10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6"/>
              </a:lnSpc>
            </a:pPr>
            <a:r>
              <a:rPr lang="en-US" sz="7516" spc="-1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OBJETIVOS ESPECIFICOS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16018" y="5853020"/>
            <a:ext cx="2374344" cy="2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sz="17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MVP actual de Localito</a:t>
            </a:r>
          </a:p>
        </p:txBody>
      </p:sp>
      <p:sp>
        <p:nvSpPr>
          <p:cNvPr id="38" name="Freeform 38"/>
          <p:cNvSpPr/>
          <p:nvPr/>
        </p:nvSpPr>
        <p:spPr>
          <a:xfrm>
            <a:off x="-3593470" y="877093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880088"/>
            <a:ext cx="7514120" cy="1491264"/>
            <a:chOff x="0" y="0"/>
            <a:chExt cx="2137363" cy="424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424184"/>
            </a:xfrm>
            <a:custGeom>
              <a:avLst/>
              <a:gdLst/>
              <a:ahLst/>
              <a:cxnLst/>
              <a:rect l="l" t="t" r="r" b="b"/>
              <a:pathLst>
                <a:path w="2137363" h="424184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371638"/>
                  </a:lnTo>
                  <a:cubicBezTo>
                    <a:pt x="2137363" y="400659"/>
                    <a:pt x="2113837" y="424184"/>
                    <a:pt x="2084817" y="424184"/>
                  </a:cubicBezTo>
                  <a:lnTo>
                    <a:pt x="52546" y="424184"/>
                  </a:lnTo>
                  <a:cubicBezTo>
                    <a:pt x="38610" y="424184"/>
                    <a:pt x="25245" y="418648"/>
                    <a:pt x="15390" y="408794"/>
                  </a:cubicBezTo>
                  <a:cubicBezTo>
                    <a:pt x="5536" y="398940"/>
                    <a:pt x="0" y="385574"/>
                    <a:pt x="0" y="371638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37363" cy="45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46942" y="3026482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ALEXANDER PATIÑO — PRODUCT OWNER (PO)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y prioriza el Product Backlog.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Representa las necesidades del producto y usuarios.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 el valor de los incrementos.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5654" y="1340441"/>
            <a:ext cx="7678083" cy="1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6"/>
              </a:lnSpc>
            </a:pPr>
            <a:r>
              <a:rPr lang="en-US" sz="11116" spc="-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28957" y="1340441"/>
            <a:ext cx="9419273" cy="1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6"/>
              </a:lnSpc>
            </a:pPr>
            <a:r>
              <a:rPr lang="en-US" sz="11116" spc="-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EQUIPO LOCALITO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586242"/>
            <a:ext cx="1064272" cy="10642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70302" y="3586242"/>
            <a:ext cx="1064272" cy="10642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290208"/>
            <a:ext cx="1064272" cy="106427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70302" y="6290208"/>
            <a:ext cx="1064272" cy="106427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6969" y="3848172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4885512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Descubrir y definir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88571" y="3848172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70302" y="4885512"/>
            <a:ext cx="301181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Construir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6969" y="6552138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7589477"/>
            <a:ext cx="3210209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erificar y validar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8571" y="6552138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70302" y="7589477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ejorar y cerrar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5274046"/>
            <a:ext cx="3050952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Necesidades, requisitos, alcance, backlog y arquitectura.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70302" y="5304328"/>
            <a:ext cx="2869977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 incremental de los módulos del MVP.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7990231"/>
            <a:ext cx="27343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Pruebas, seguridad, usabilidad y demostraciones con usuarios.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70302" y="7981496"/>
            <a:ext cx="2869977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Correcciones, documentación, conclusiones y preparación de la defensa.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0" y="4650515"/>
            <a:ext cx="7514120" cy="1669101"/>
            <a:chOff x="0" y="0"/>
            <a:chExt cx="2137363" cy="4747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37363" cy="474769"/>
            </a:xfrm>
            <a:custGeom>
              <a:avLst/>
              <a:gdLst/>
              <a:ahLst/>
              <a:cxnLst/>
              <a:rect l="l" t="t" r="r" b="b"/>
              <a:pathLst>
                <a:path w="2137363" h="474769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422223"/>
                  </a:lnTo>
                  <a:cubicBezTo>
                    <a:pt x="2137363" y="451244"/>
                    <a:pt x="2113837" y="474769"/>
                    <a:pt x="2084817" y="474769"/>
                  </a:cubicBezTo>
                  <a:lnTo>
                    <a:pt x="52546" y="474769"/>
                  </a:lnTo>
                  <a:cubicBezTo>
                    <a:pt x="38610" y="474769"/>
                    <a:pt x="25245" y="469233"/>
                    <a:pt x="15390" y="459379"/>
                  </a:cubicBezTo>
                  <a:cubicBezTo>
                    <a:pt x="5536" y="449525"/>
                    <a:pt x="0" y="436159"/>
                    <a:pt x="0" y="422223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137363" cy="503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46942" y="4915152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SAMUEL SOLÍS — SCRUM MASTER (SM)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Facilita la aplicación de Scrum.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Coordina ceremonias y seguimiento.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Ayuda a remover impedimentos del equipo.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0" y="6595841"/>
            <a:ext cx="7514120" cy="1701149"/>
            <a:chOff x="0" y="0"/>
            <a:chExt cx="2137363" cy="48388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37363" cy="483885"/>
            </a:xfrm>
            <a:custGeom>
              <a:avLst/>
              <a:gdLst/>
              <a:ahLst/>
              <a:cxnLst/>
              <a:rect l="l" t="t" r="r" b="b"/>
              <a:pathLst>
                <a:path w="2137363" h="483885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431339"/>
                  </a:lnTo>
                  <a:cubicBezTo>
                    <a:pt x="2137363" y="460360"/>
                    <a:pt x="2113837" y="483885"/>
                    <a:pt x="2084817" y="483885"/>
                  </a:cubicBezTo>
                  <a:lnTo>
                    <a:pt x="52546" y="483885"/>
                  </a:lnTo>
                  <a:cubicBezTo>
                    <a:pt x="23526" y="483885"/>
                    <a:pt x="0" y="460360"/>
                    <a:pt x="0" y="431339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2137363" cy="512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446942" y="6742234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CAMILO GONZÁLEZ — DEVELOPER (DEV)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Diseño y desarrollo de la solución.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Arquitectura, desarrollo full stack, datos e integraciones.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Implementación, pruebas técnicas y despliegue.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2" name="Freeform 42"/>
          <p:cNvSpPr/>
          <p:nvPr/>
        </p:nvSpPr>
        <p:spPr>
          <a:xfrm>
            <a:off x="-3680429" y="844961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TextBox 43"/>
          <p:cNvSpPr txBox="1"/>
          <p:nvPr/>
        </p:nvSpPr>
        <p:spPr>
          <a:xfrm>
            <a:off x="745654" y="2875735"/>
            <a:ext cx="5274146" cy="330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Scrum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20041" y="8535115"/>
            <a:ext cx="5689447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Los roles Scrum definen responsabilidades principales, manteniendo la colaboración transversal del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9395" y="2431466"/>
            <a:ext cx="7471881" cy="1643118"/>
            <a:chOff x="0" y="0"/>
            <a:chExt cx="1967903" cy="432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57294" y="2431466"/>
            <a:ext cx="7471881" cy="1643118"/>
            <a:chOff x="0" y="0"/>
            <a:chExt cx="1967903" cy="432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7682" y="978288"/>
            <a:ext cx="7083594" cy="116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8816" spc="-1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PERFIL DE EGRESO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59395" y="4187092"/>
            <a:ext cx="7471881" cy="1643118"/>
            <a:chOff x="0" y="0"/>
            <a:chExt cx="1967903" cy="4327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9395" y="5944510"/>
            <a:ext cx="7471881" cy="1643118"/>
            <a:chOff x="0" y="0"/>
            <a:chExt cx="1967903" cy="4327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9395" y="7701929"/>
            <a:ext cx="7471881" cy="1643118"/>
            <a:chOff x="0" y="0"/>
            <a:chExt cx="1967903" cy="4327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47682" y="2561259"/>
            <a:ext cx="7083594" cy="659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software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Construcción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solución full stack.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Modelamiento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datos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Diseño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multi-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separada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consistente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Gestión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proyectos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Backlog, sprints,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responsables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control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avance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Pruebas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calidad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Criterios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aceptación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automatizadas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manual.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76032" y="978288"/>
            <a:ext cx="5202308" cy="116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8816" spc="-1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FACTIBILIDAD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57294" y="4187092"/>
            <a:ext cx="7471881" cy="1643118"/>
            <a:chOff x="0" y="0"/>
            <a:chExt cx="1967903" cy="4327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57294" y="5944510"/>
            <a:ext cx="7471881" cy="1643118"/>
            <a:chOff x="0" y="0"/>
            <a:chExt cx="1967903" cy="4327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57294" y="7701929"/>
            <a:ext cx="7471881" cy="1643118"/>
            <a:chOff x="0" y="0"/>
            <a:chExt cx="1967903" cy="43275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713310" y="2561259"/>
            <a:ext cx="7015865" cy="6991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18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semanas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Proyecto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organizado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MVP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priorizado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Tecnologías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disponibles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React · Node.js ·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· PostgreSQL ·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· PWA.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existente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Repositorio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prototipo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funcional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conocimiento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equipo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Alcance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controlado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integraciones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complejas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quedan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fuera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MVP para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proteger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viabilidad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6659295" y="140096"/>
            <a:ext cx="1488935" cy="148893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2" name="AutoShape 32"/>
          <p:cNvSpPr/>
          <p:nvPr/>
        </p:nvSpPr>
        <p:spPr>
          <a:xfrm>
            <a:off x="1059395" y="2126156"/>
            <a:ext cx="7471881" cy="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3" name="AutoShape 33"/>
          <p:cNvSpPr/>
          <p:nvPr/>
        </p:nvSpPr>
        <p:spPr>
          <a:xfrm>
            <a:off x="9257294" y="2126156"/>
            <a:ext cx="7471881" cy="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4" name="AutoShape 34"/>
          <p:cNvSpPr/>
          <p:nvPr/>
        </p:nvSpPr>
        <p:spPr>
          <a:xfrm flipV="1">
            <a:off x="8894285" y="2608884"/>
            <a:ext cx="0" cy="649224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5" name="Freeform 35"/>
          <p:cNvSpPr/>
          <p:nvPr/>
        </p:nvSpPr>
        <p:spPr>
          <a:xfrm rot="-3068600">
            <a:off x="9386040" y="4025566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6" name="TextBox 36"/>
          <p:cNvSpPr txBox="1"/>
          <p:nvPr/>
        </p:nvSpPr>
        <p:spPr>
          <a:xfrm>
            <a:off x="1547002" y="9442062"/>
            <a:ext cx="13631338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sz="16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El proyecto permite aplicar y profundizar competencias profesionales en arquitectura, desarrollo de software, bases de datos, seguridad y construcción de soluciones SaaS.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23183" y="8449081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89009" y="2029274"/>
            <a:ext cx="12851602" cy="7229026"/>
          </a:xfrm>
          <a:custGeom>
            <a:avLst/>
            <a:gdLst/>
            <a:ahLst/>
            <a:cxnLst/>
            <a:rect l="l" t="t" r="r" b="b"/>
            <a:pathLst>
              <a:path w="12851602" h="7229026">
                <a:moveTo>
                  <a:pt x="0" y="0"/>
                </a:moveTo>
                <a:lnTo>
                  <a:pt x="12851603" y="0"/>
                </a:lnTo>
                <a:lnTo>
                  <a:pt x="12851603" y="7229026"/>
                </a:lnTo>
                <a:lnTo>
                  <a:pt x="0" y="722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219720" y="462692"/>
            <a:ext cx="11848561" cy="133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7"/>
              </a:lnSpc>
            </a:pPr>
            <a:r>
              <a:rPr lang="en-US" sz="10067" spc="-1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PLANIFICACIÓN GENERAL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13556" y="2820261"/>
            <a:ext cx="4460947" cy="613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endParaRPr dirty="0"/>
          </a:p>
          <a:p>
            <a:pPr>
              <a:lnSpc>
                <a:spcPts val="3745"/>
              </a:lnSpc>
            </a:pPr>
            <a:r>
              <a:rPr lang="es-ES" sz="2675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PLANIFICACIÓN CONTEMPLA UNA FASE INICIAL DE PREPARACIÓN Y 8 SPRINTS DISTRIBUIDOS A LO LARGO DE LAS 18 SEMANAS, PERMITIENDO ENTREGAS INCREMENTALES Y CAPACIDAD DE ADAPTACIÓN ANTE CAMBIOS.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424" y="1694306"/>
            <a:ext cx="3834062" cy="671443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464" y="1694305"/>
            <a:ext cx="3834062" cy="671443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8385" y="1694305"/>
            <a:ext cx="3834062" cy="67144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04390" y="4375179"/>
            <a:ext cx="5529484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2 — Desarrollo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Incremento funcional del MVP, repositorio, módulos principales e informe de calidad.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04390" y="5934046"/>
            <a:ext cx="5339042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3 — Validación y cierre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 con usuarios, MVP desplegado, informe final y presentación.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0990" y="598811"/>
            <a:ext cx="10991742" cy="101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7668" spc="-13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EVIDENCIAS Y PLAN DE TRABAJO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4390" y="2957251"/>
            <a:ext cx="5887499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1 — Definición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 del problema, cliente ideal, alcance, backlog y arquitectura.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4362" y="7293000"/>
            <a:ext cx="5339042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18 semanas · 3 fases · evidencia verificable en cada etapa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-13480148" y="4519209"/>
            <a:ext cx="22211183" cy="8117178"/>
          </a:xfrm>
          <a:custGeom>
            <a:avLst/>
            <a:gdLst/>
            <a:ahLst/>
            <a:cxnLst/>
            <a:rect l="l" t="t" r="r" b="b"/>
            <a:pathLst>
              <a:path w="22211183" h="8117178">
                <a:moveTo>
                  <a:pt x="0" y="0"/>
                </a:moveTo>
                <a:lnTo>
                  <a:pt x="22211183" y="0"/>
                </a:lnTo>
                <a:lnTo>
                  <a:pt x="22211183" y="8117177"/>
                </a:lnTo>
                <a:lnTo>
                  <a:pt x="0" y="8117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-3920594" y="7949270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1595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AutoShape 14"/>
          <p:cNvSpPr/>
          <p:nvPr/>
        </p:nvSpPr>
        <p:spPr>
          <a:xfrm>
            <a:off x="2244621" y="4197681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AutoShape 15"/>
          <p:cNvSpPr/>
          <p:nvPr/>
        </p:nvSpPr>
        <p:spPr>
          <a:xfrm>
            <a:off x="2244621" y="5686078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" name="AutoShape 16"/>
          <p:cNvSpPr/>
          <p:nvPr/>
        </p:nvSpPr>
        <p:spPr>
          <a:xfrm>
            <a:off x="2244621" y="7144989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24600" y="966666"/>
            <a:ext cx="4267200" cy="40807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915400" y="6745380"/>
            <a:ext cx="7315200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8800" spc="-26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 GRACIAS!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2250" y="5047448"/>
            <a:ext cx="4038600" cy="3813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Todo</a:t>
            </a:r>
            <a:r>
              <a:rPr lang="en-US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el </a:t>
            </a:r>
            <a:r>
              <a:rPr lang="en-US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negocio</a:t>
            </a:r>
            <a:r>
              <a:rPr lang="en-US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un solo </a:t>
            </a:r>
            <a:r>
              <a:rPr lang="en-US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lugar</a:t>
            </a:r>
            <a:r>
              <a:rPr lang="en-US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id="7" name="Rectángulo 6"/>
          <p:cNvSpPr/>
          <p:nvPr/>
        </p:nvSpPr>
        <p:spPr>
          <a:xfrm>
            <a:off x="2133600" y="6783480"/>
            <a:ext cx="52803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Una solución pensada para simplificar la gestión diaria de los comercios de barrio.</a:t>
            </a:r>
            <a:endParaRPr lang="en-US" b="1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2156129" y="7448861"/>
            <a:ext cx="4724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Siguiente desafío</a:t>
            </a:r>
          </a:p>
          <a:p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Validar la utilidad, adopción y propuesta de valor de </a:t>
            </a:r>
            <a:r>
              <a:rPr lang="es-ES" b="1" dirty="0" err="1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Localito</a:t>
            </a:r>
            <a:r>
              <a:rPr lang="es-ES" b="1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 con usuarios reales.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1000</Words>
  <Application>Microsoft Office PowerPoint</Application>
  <PresentationFormat>Personalizado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Calibri</vt:lpstr>
      <vt:lpstr>Inter</vt:lpstr>
      <vt:lpstr>Anton</vt:lpstr>
      <vt:lpstr>Inter Bold</vt:lpstr>
      <vt:lpstr>Inter Bold Italics</vt:lpstr>
      <vt:lpstr>Inter Italics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Proyecto</dc:title>
  <cp:lastModifiedBy>SAMUEL ANTONIO SOLIS CALABRANO</cp:lastModifiedBy>
  <cp:revision>9</cp:revision>
  <dcterms:created xsi:type="dcterms:W3CDTF">2006-08-16T00:00:00Z</dcterms:created>
  <dcterms:modified xsi:type="dcterms:W3CDTF">2026-08-31T22:50:40Z</dcterms:modified>
  <dc:identifier>DAHTfnLUXRo</dc:identifier>
</cp:coreProperties>
</file>