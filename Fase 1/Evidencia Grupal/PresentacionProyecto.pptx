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Inter Bold Italics" panose="020B0604020202020204" charset="0"/>
      <p:regular r:id="rId14"/>
    </p:embeddedFont>
    <p:embeddedFont>
      <p:font typeface="Inter Bold" panose="020B0604020202020204" charset="0"/>
      <p:regular r:id="rId15"/>
    </p:embeddedFont>
    <p:embeddedFont>
      <p:font typeface="Inter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Inter Italics" panose="020B0604020202020204" charset="0"/>
      <p:regular r:id="rId21"/>
    </p:embeddedFont>
    <p:embeddedFont>
      <p:font typeface="Anton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123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671618" y="4579250"/>
            <a:ext cx="22211183" cy="8117178"/>
          </a:xfrm>
          <a:custGeom>
            <a:avLst/>
            <a:gdLst/>
            <a:ahLst/>
            <a:cxnLst/>
            <a:rect l="l" t="t" r="r" b="b"/>
            <a:pathLst>
              <a:path w="22211183" h="8117178">
                <a:moveTo>
                  <a:pt x="0" y="0"/>
                </a:moveTo>
                <a:lnTo>
                  <a:pt x="22211182" y="0"/>
                </a:lnTo>
                <a:lnTo>
                  <a:pt x="22211182" y="8117177"/>
                </a:lnTo>
                <a:lnTo>
                  <a:pt x="0" y="81171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506709"/>
            <a:ext cx="1613887" cy="161388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028700" y="3143669"/>
            <a:ext cx="9509470" cy="421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65"/>
              </a:lnSpc>
            </a:pPr>
            <a:r>
              <a:rPr lang="en-US" sz="16265" spc="-29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PROPUESTA DE PROYECTO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196796"/>
            <a:ext cx="7144891" cy="497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6"/>
              </a:lnSpc>
            </a:pPr>
            <a:r>
              <a:rPr lang="en-US" sz="289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Equipo Localito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252844"/>
            <a:ext cx="9689920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65"/>
              </a:lnSpc>
            </a:pPr>
            <a:r>
              <a:rPr lang="en-US" sz="2761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LOCALITO · DIGITALIZANDO EL COMERCIO DE BARRIO</a:t>
            </a:r>
          </a:p>
          <a:p>
            <a:pPr algn="l">
              <a:lnSpc>
                <a:spcPts val="6945"/>
              </a:lnSpc>
            </a:pPr>
            <a:endParaRPr lang="en-US" sz="2761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43822" y="7853786"/>
            <a:ext cx="4027380" cy="266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Ingeniería en Informática · Capstone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576300"/>
            <a:ext cx="4574738" cy="266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Camilo Gonzalez · Samuel Solís · Alexander Patiño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4884" y="8215043"/>
            <a:ext cx="4719116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  <a:spcBef>
                <a:spcPct val="0"/>
              </a:spcBef>
            </a:pPr>
            <a:r>
              <a:rPr lang="en-US" sz="15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Profesor</a:t>
            </a:r>
            <a:r>
              <a:rPr lang="en-US" sz="15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Álvaro  Andrés </a:t>
            </a:r>
            <a:r>
              <a:rPr lang="en-US" sz="15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Mellado</a:t>
            </a:r>
            <a:r>
              <a:rPr lang="en-US" sz="15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Pimentel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1517" y="1445795"/>
            <a:ext cx="4611615" cy="7395410"/>
            <a:chOff x="0" y="0"/>
            <a:chExt cx="714460" cy="11457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4460" cy="1145743"/>
            </a:xfrm>
            <a:custGeom>
              <a:avLst/>
              <a:gdLst/>
              <a:ahLst/>
              <a:cxnLst/>
              <a:rect l="l" t="t" r="r" b="b"/>
              <a:pathLst>
                <a:path w="714460" h="1145743">
                  <a:moveTo>
                    <a:pt x="41970" y="0"/>
                  </a:moveTo>
                  <a:lnTo>
                    <a:pt x="672490" y="0"/>
                  </a:lnTo>
                  <a:cubicBezTo>
                    <a:pt x="695669" y="0"/>
                    <a:pt x="714460" y="18790"/>
                    <a:pt x="714460" y="41970"/>
                  </a:cubicBezTo>
                  <a:lnTo>
                    <a:pt x="714460" y="1103773"/>
                  </a:lnTo>
                  <a:cubicBezTo>
                    <a:pt x="714460" y="1126952"/>
                    <a:pt x="695669" y="1145743"/>
                    <a:pt x="672490" y="1145743"/>
                  </a:cubicBezTo>
                  <a:lnTo>
                    <a:pt x="41970" y="1145743"/>
                  </a:lnTo>
                  <a:cubicBezTo>
                    <a:pt x="30839" y="1145743"/>
                    <a:pt x="20163" y="1141321"/>
                    <a:pt x="12293" y="1133450"/>
                  </a:cubicBezTo>
                  <a:cubicBezTo>
                    <a:pt x="4422" y="1125579"/>
                    <a:pt x="0" y="1114904"/>
                    <a:pt x="0" y="1103773"/>
                  </a:cubicBezTo>
                  <a:lnTo>
                    <a:pt x="0" y="41970"/>
                  </a:lnTo>
                  <a:cubicBezTo>
                    <a:pt x="0" y="18790"/>
                    <a:pt x="18790" y="0"/>
                    <a:pt x="41970" y="0"/>
                  </a:cubicBezTo>
                  <a:close/>
                </a:path>
              </a:pathLst>
            </a:custGeom>
            <a:blipFill>
              <a:blip r:embed="rId2"/>
              <a:stretch>
                <a:fillRect l="-15120" r="-12535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349548" y="3608296"/>
            <a:ext cx="9842856" cy="342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Localito nace de una realidad presente en muchos almacenes, minimarkets, botillerías y comercios de barrio: gran parte de su gestión diaria todavía se realiza mediante cuadernos, memoria, planillas separadas o sistemas que no se adaptan a sus necesidades.</a:t>
            </a:r>
          </a:p>
          <a:p>
            <a:pPr algn="l">
              <a:lnSpc>
                <a:spcPts val="3437"/>
              </a:lnSpc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Esto dificulta conocer el stock real, controlar la caja, gestionar fiados y tomar decisiones con información confiable.</a:t>
            </a:r>
          </a:p>
          <a:p>
            <a:pPr algn="l">
              <a:lnSpc>
                <a:spcPts val="3437"/>
              </a:lnSpc>
            </a:pPr>
            <a:endParaRPr lang="en-US" sz="2455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282652" y="1741070"/>
            <a:ext cx="9613762" cy="1980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66"/>
              </a:lnSpc>
              <a:spcBef>
                <a:spcPct val="0"/>
              </a:spcBef>
            </a:pPr>
            <a:r>
              <a:rPr lang="en-US" sz="14966" u="none" strike="noStrike" spc="-26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INTRODUCCIÓN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82652" y="7025568"/>
            <a:ext cx="4806881" cy="43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5"/>
              </a:lnSpc>
            </a:pPr>
            <a:r>
              <a:rPr lang="en-US" sz="3235" spc="-5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Nuestro objetivo es claro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49548" y="7572283"/>
            <a:ext cx="10176784" cy="836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403" b="1" i="1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Desarrollar y validar una solución simple, móvil y segura que centralice la gestión del negocio en un solo lugar.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452356" y="221756"/>
            <a:ext cx="1613887" cy="16138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-3756043" y="8408487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51595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23076" y="2028084"/>
            <a:ext cx="4426458" cy="3308675"/>
            <a:chOff x="0" y="0"/>
            <a:chExt cx="955596" cy="7142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55596" cy="714286"/>
            </a:xfrm>
            <a:custGeom>
              <a:avLst/>
              <a:gdLst/>
              <a:ahLst/>
              <a:cxnLst/>
              <a:rect l="l" t="t" r="r" b="b"/>
              <a:pathLst>
                <a:path w="955596" h="714286">
                  <a:moveTo>
                    <a:pt x="80454" y="0"/>
                  </a:moveTo>
                  <a:lnTo>
                    <a:pt x="875142" y="0"/>
                  </a:lnTo>
                  <a:cubicBezTo>
                    <a:pt x="919576" y="0"/>
                    <a:pt x="955596" y="36021"/>
                    <a:pt x="955596" y="80454"/>
                  </a:cubicBezTo>
                  <a:lnTo>
                    <a:pt x="955596" y="633832"/>
                  </a:lnTo>
                  <a:cubicBezTo>
                    <a:pt x="955596" y="678266"/>
                    <a:pt x="919576" y="714286"/>
                    <a:pt x="875142" y="714286"/>
                  </a:cubicBezTo>
                  <a:lnTo>
                    <a:pt x="80454" y="714286"/>
                  </a:lnTo>
                  <a:cubicBezTo>
                    <a:pt x="59117" y="714286"/>
                    <a:pt x="38653" y="705810"/>
                    <a:pt x="23565" y="690722"/>
                  </a:cubicBezTo>
                  <a:cubicBezTo>
                    <a:pt x="8476" y="675634"/>
                    <a:pt x="0" y="655170"/>
                    <a:pt x="0" y="633832"/>
                  </a:cubicBezTo>
                  <a:lnTo>
                    <a:pt x="0" y="80454"/>
                  </a:lnTo>
                  <a:cubicBezTo>
                    <a:pt x="0" y="59117"/>
                    <a:pt x="8476" y="38653"/>
                    <a:pt x="23565" y="23565"/>
                  </a:cubicBezTo>
                  <a:cubicBezTo>
                    <a:pt x="38653" y="8476"/>
                    <a:pt x="59117" y="0"/>
                    <a:pt x="80454" y="0"/>
                  </a:cubicBezTo>
                  <a:close/>
                </a:path>
              </a:pathLst>
            </a:custGeom>
            <a:blipFill>
              <a:blip r:embed="rId2"/>
              <a:stretch>
                <a:fillRect t="-168" b="-16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923076" y="5643192"/>
            <a:ext cx="4426458" cy="3308675"/>
            <a:chOff x="0" y="0"/>
            <a:chExt cx="955596" cy="7142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5596" cy="714286"/>
            </a:xfrm>
            <a:custGeom>
              <a:avLst/>
              <a:gdLst/>
              <a:ahLst/>
              <a:cxnLst/>
              <a:rect l="l" t="t" r="r" b="b"/>
              <a:pathLst>
                <a:path w="955596" h="714286">
                  <a:moveTo>
                    <a:pt x="61215" y="0"/>
                  </a:moveTo>
                  <a:lnTo>
                    <a:pt x="894381" y="0"/>
                  </a:lnTo>
                  <a:cubicBezTo>
                    <a:pt x="910616" y="0"/>
                    <a:pt x="926187" y="6449"/>
                    <a:pt x="937667" y="17930"/>
                  </a:cubicBezTo>
                  <a:cubicBezTo>
                    <a:pt x="949147" y="29410"/>
                    <a:pt x="955596" y="44980"/>
                    <a:pt x="955596" y="61215"/>
                  </a:cubicBezTo>
                  <a:lnTo>
                    <a:pt x="955596" y="653071"/>
                  </a:lnTo>
                  <a:cubicBezTo>
                    <a:pt x="955596" y="686879"/>
                    <a:pt x="928189" y="714286"/>
                    <a:pt x="894381" y="714286"/>
                  </a:cubicBezTo>
                  <a:lnTo>
                    <a:pt x="61215" y="714286"/>
                  </a:lnTo>
                  <a:cubicBezTo>
                    <a:pt x="44980" y="714286"/>
                    <a:pt x="29410" y="707837"/>
                    <a:pt x="17930" y="696357"/>
                  </a:cubicBezTo>
                  <a:cubicBezTo>
                    <a:pt x="6449" y="684877"/>
                    <a:pt x="0" y="669306"/>
                    <a:pt x="0" y="653071"/>
                  </a:cubicBezTo>
                  <a:lnTo>
                    <a:pt x="0" y="61215"/>
                  </a:lnTo>
                  <a:cubicBezTo>
                    <a:pt x="0" y="44980"/>
                    <a:pt x="6449" y="29410"/>
                    <a:pt x="17930" y="17930"/>
                  </a:cubicBezTo>
                  <a:cubicBezTo>
                    <a:pt x="29410" y="6449"/>
                    <a:pt x="44980" y="0"/>
                    <a:pt x="61215" y="0"/>
                  </a:cubicBezTo>
                  <a:close/>
                </a:path>
              </a:pathLst>
            </a:custGeom>
            <a:blipFill>
              <a:blip r:embed="rId3"/>
              <a:stretch>
                <a:fillRect l="-21188" r="-2118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2607737"/>
            <a:ext cx="9613762" cy="1943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15"/>
              </a:lnSpc>
            </a:pPr>
            <a:r>
              <a:rPr lang="en-US" sz="14615" spc="-26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EL PROBLEMA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8789" y="4474963"/>
            <a:ext cx="9353585" cy="4649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3"/>
              </a:lnSpc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Muchos comercios de barrio todavía gestionan sus operaciones de forma manual o fragmentada. Ventas, inventario, caja y cuentas fiadas pueden quedar repartidas entre cuadernos, memoria, planillas o sistemas separados.</a:t>
            </a:r>
          </a:p>
          <a:p>
            <a:pPr algn="l">
              <a:lnSpc>
                <a:spcPts val="3683"/>
              </a:lnSpc>
            </a:pPr>
            <a:endParaRPr lang="en-US" sz="2455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683"/>
              </a:lnSpc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Esta falta de centralización dificulta conocer el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stock rea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l, detectar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diferencias de caja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controlar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deudas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realizar reposiciones a tiempo y tomar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decisiones 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 información confiable.</a:t>
            </a:r>
          </a:p>
          <a:p>
            <a:pPr algn="l">
              <a:lnSpc>
                <a:spcPts val="3683"/>
              </a:lnSpc>
            </a:pPr>
            <a:endParaRPr lang="en-US" sz="2455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-3373320" y="8322683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51595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744486" y="140096"/>
            <a:ext cx="1403744" cy="140374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23918" y="1938610"/>
            <a:ext cx="1064272" cy="106427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465520" y="1938610"/>
            <a:ext cx="1064272" cy="106427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23918" y="5006084"/>
            <a:ext cx="1064272" cy="106427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465520" y="5006084"/>
            <a:ext cx="1064272" cy="106427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212686" y="301811"/>
            <a:ext cx="1613887" cy="161388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028700" y="2074451"/>
            <a:ext cx="6663544" cy="379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15"/>
              </a:lnSpc>
            </a:pPr>
            <a:r>
              <a:rPr lang="en-US" sz="14615" spc="-26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NUESTRA SOLUCIÓN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5936571"/>
            <a:ext cx="6168403" cy="423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Todo el negocio, en un solo lugar.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2187" y="2200540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23918" y="3237879"/>
            <a:ext cx="2869977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Gestión centralizada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23918" y="3572749"/>
            <a:ext cx="2869977" cy="568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172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Ventas, inventario y caja</a:t>
            </a:r>
          </a:p>
          <a:p>
            <a:pPr algn="l">
              <a:lnSpc>
                <a:spcPts val="2138"/>
              </a:lnSpc>
            </a:pPr>
            <a:endParaRPr lang="en-US" sz="1727" b="1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583788" y="2200540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65520" y="3237879"/>
            <a:ext cx="3011817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Clientes y fiados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42741" y="3576905"/>
            <a:ext cx="2734391" cy="299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172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Mayor control de deudas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42187" y="5268013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23918" y="6305353"/>
            <a:ext cx="3210209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2"/>
              </a:lnSpc>
              <a:spcBef>
                <a:spcPct val="0"/>
              </a:spcBef>
            </a:pPr>
            <a:r>
              <a:rPr lang="en-US" sz="2842" u="none" strike="noStrike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Acceso simple y móvil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23918" y="6648957"/>
            <a:ext cx="2734391" cy="568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172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 PWA para el día a día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583788" y="5268013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465520" y="6305353"/>
            <a:ext cx="2869977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2"/>
              </a:lnSpc>
              <a:spcBef>
                <a:spcPct val="0"/>
              </a:spcBef>
            </a:pPr>
            <a:r>
              <a:rPr lang="en-US" sz="2842" u="none" strike="noStrike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Tecnología aplicada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465520" y="6640222"/>
            <a:ext cx="375568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17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Automatización</a:t>
            </a:r>
            <a:r>
              <a:rPr lang="en-US" sz="17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y </a:t>
            </a:r>
            <a:r>
              <a:rPr lang="en-US" sz="17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asistencia</a:t>
            </a:r>
            <a:endParaRPr lang="en-US" sz="17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2138"/>
              </a:lnSpc>
            </a:pPr>
            <a:r>
              <a:rPr lang="en-US" sz="15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023918" y="3844727"/>
            <a:ext cx="2734391" cy="79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Controla las operaciones principales desde un solo lugar.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465520" y="3875009"/>
            <a:ext cx="2711612" cy="53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Registra clientes, compras y cuentas pendientes.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023918" y="6951217"/>
            <a:ext cx="2734391" cy="53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Gestiona el negocio desde computador o celular.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465520" y="6942482"/>
            <a:ext cx="3034597" cy="79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Simplifica tareas mediante códigos, IA y herramientas asistidas.</a:t>
            </a:r>
          </a:p>
        </p:txBody>
      </p:sp>
      <p:sp>
        <p:nvSpPr>
          <p:cNvPr id="34" name="Freeform 34"/>
          <p:cNvSpPr/>
          <p:nvPr/>
        </p:nvSpPr>
        <p:spPr>
          <a:xfrm>
            <a:off x="-3413347" y="7321999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1595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8692" y="6520843"/>
            <a:ext cx="6987811" cy="565616"/>
            <a:chOff x="0" y="0"/>
            <a:chExt cx="2137363" cy="1730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7363" cy="173005"/>
            </a:xfrm>
            <a:custGeom>
              <a:avLst/>
              <a:gdLst/>
              <a:ahLst/>
              <a:cxnLst/>
              <a:rect l="l" t="t" r="r" b="b"/>
              <a:pathLst>
                <a:path w="2137363" h="173005">
                  <a:moveTo>
                    <a:pt x="56504" y="0"/>
                  </a:moveTo>
                  <a:lnTo>
                    <a:pt x="2080859" y="0"/>
                  </a:lnTo>
                  <a:cubicBezTo>
                    <a:pt x="2095845" y="0"/>
                    <a:pt x="2110217" y="5953"/>
                    <a:pt x="2120813" y="16550"/>
                  </a:cubicBezTo>
                  <a:cubicBezTo>
                    <a:pt x="2131410" y="27146"/>
                    <a:pt x="2137363" y="41518"/>
                    <a:pt x="2137363" y="56504"/>
                  </a:cubicBezTo>
                  <a:lnTo>
                    <a:pt x="2137363" y="116501"/>
                  </a:lnTo>
                  <a:cubicBezTo>
                    <a:pt x="2137363" y="131487"/>
                    <a:pt x="2131410" y="145859"/>
                    <a:pt x="2120813" y="156456"/>
                  </a:cubicBezTo>
                  <a:cubicBezTo>
                    <a:pt x="2110217" y="167052"/>
                    <a:pt x="2095845" y="173005"/>
                    <a:pt x="2080859" y="173005"/>
                  </a:cubicBezTo>
                  <a:lnTo>
                    <a:pt x="56504" y="173005"/>
                  </a:lnTo>
                  <a:cubicBezTo>
                    <a:pt x="41518" y="173005"/>
                    <a:pt x="27146" y="167052"/>
                    <a:pt x="16550" y="156456"/>
                  </a:cubicBezTo>
                  <a:cubicBezTo>
                    <a:pt x="5953" y="145859"/>
                    <a:pt x="0" y="131487"/>
                    <a:pt x="0" y="116501"/>
                  </a:cubicBezTo>
                  <a:lnTo>
                    <a:pt x="0" y="56504"/>
                  </a:lnTo>
                  <a:cubicBezTo>
                    <a:pt x="0" y="41518"/>
                    <a:pt x="5953" y="27146"/>
                    <a:pt x="16550" y="16550"/>
                  </a:cubicBezTo>
                  <a:cubicBezTo>
                    <a:pt x="27146" y="5953"/>
                    <a:pt x="41518" y="0"/>
                    <a:pt x="565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37363" cy="211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47074" y="6587376"/>
            <a:ext cx="432550" cy="432550"/>
          </a:xfrm>
          <a:custGeom>
            <a:avLst/>
            <a:gdLst/>
            <a:ahLst/>
            <a:cxnLst/>
            <a:rect l="l" t="t" r="r" b="b"/>
            <a:pathLst>
              <a:path w="432550" h="432550">
                <a:moveTo>
                  <a:pt x="0" y="0"/>
                </a:moveTo>
                <a:lnTo>
                  <a:pt x="432550" y="0"/>
                </a:lnTo>
                <a:lnTo>
                  <a:pt x="432550" y="432550"/>
                </a:lnTo>
                <a:lnTo>
                  <a:pt x="0" y="432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68692" y="7245963"/>
            <a:ext cx="6987811" cy="785767"/>
            <a:chOff x="0" y="0"/>
            <a:chExt cx="2137363" cy="2403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37363" cy="240343"/>
            </a:xfrm>
            <a:custGeom>
              <a:avLst/>
              <a:gdLst/>
              <a:ahLst/>
              <a:cxnLst/>
              <a:rect l="l" t="t" r="r" b="b"/>
              <a:pathLst>
                <a:path w="2137363" h="240343">
                  <a:moveTo>
                    <a:pt x="56504" y="0"/>
                  </a:moveTo>
                  <a:lnTo>
                    <a:pt x="2080859" y="0"/>
                  </a:lnTo>
                  <a:cubicBezTo>
                    <a:pt x="2095845" y="0"/>
                    <a:pt x="2110217" y="5953"/>
                    <a:pt x="2120813" y="16550"/>
                  </a:cubicBezTo>
                  <a:cubicBezTo>
                    <a:pt x="2131410" y="27146"/>
                    <a:pt x="2137363" y="41518"/>
                    <a:pt x="2137363" y="56504"/>
                  </a:cubicBezTo>
                  <a:lnTo>
                    <a:pt x="2137363" y="183839"/>
                  </a:lnTo>
                  <a:cubicBezTo>
                    <a:pt x="2137363" y="198825"/>
                    <a:pt x="2131410" y="213196"/>
                    <a:pt x="2120813" y="223793"/>
                  </a:cubicBezTo>
                  <a:cubicBezTo>
                    <a:pt x="2110217" y="234390"/>
                    <a:pt x="2095845" y="240343"/>
                    <a:pt x="2080859" y="240343"/>
                  </a:cubicBezTo>
                  <a:lnTo>
                    <a:pt x="56504" y="240343"/>
                  </a:lnTo>
                  <a:cubicBezTo>
                    <a:pt x="41518" y="240343"/>
                    <a:pt x="27146" y="234390"/>
                    <a:pt x="16550" y="223793"/>
                  </a:cubicBezTo>
                  <a:cubicBezTo>
                    <a:pt x="5953" y="213196"/>
                    <a:pt x="0" y="198825"/>
                    <a:pt x="0" y="183839"/>
                  </a:cubicBezTo>
                  <a:lnTo>
                    <a:pt x="0" y="56504"/>
                  </a:lnTo>
                  <a:cubicBezTo>
                    <a:pt x="0" y="41518"/>
                    <a:pt x="5953" y="27146"/>
                    <a:pt x="16550" y="16550"/>
                  </a:cubicBezTo>
                  <a:cubicBezTo>
                    <a:pt x="27146" y="5953"/>
                    <a:pt x="41518" y="0"/>
                    <a:pt x="565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37363" cy="2784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47074" y="7438884"/>
            <a:ext cx="432550" cy="432550"/>
          </a:xfrm>
          <a:custGeom>
            <a:avLst/>
            <a:gdLst/>
            <a:ahLst/>
            <a:cxnLst/>
            <a:rect l="l" t="t" r="r" b="b"/>
            <a:pathLst>
              <a:path w="432550" h="432550">
                <a:moveTo>
                  <a:pt x="0" y="0"/>
                </a:moveTo>
                <a:lnTo>
                  <a:pt x="432550" y="0"/>
                </a:lnTo>
                <a:lnTo>
                  <a:pt x="432550" y="432551"/>
                </a:lnTo>
                <a:lnTo>
                  <a:pt x="0" y="432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68692" y="8223378"/>
            <a:ext cx="6987811" cy="865821"/>
            <a:chOff x="0" y="0"/>
            <a:chExt cx="2137363" cy="2648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37363" cy="264829"/>
            </a:xfrm>
            <a:custGeom>
              <a:avLst/>
              <a:gdLst/>
              <a:ahLst/>
              <a:cxnLst/>
              <a:rect l="l" t="t" r="r" b="b"/>
              <a:pathLst>
                <a:path w="2137363" h="264829">
                  <a:moveTo>
                    <a:pt x="56504" y="0"/>
                  </a:moveTo>
                  <a:lnTo>
                    <a:pt x="2080859" y="0"/>
                  </a:lnTo>
                  <a:cubicBezTo>
                    <a:pt x="2095845" y="0"/>
                    <a:pt x="2110217" y="5953"/>
                    <a:pt x="2120813" y="16550"/>
                  </a:cubicBezTo>
                  <a:cubicBezTo>
                    <a:pt x="2131410" y="27146"/>
                    <a:pt x="2137363" y="41518"/>
                    <a:pt x="2137363" y="56504"/>
                  </a:cubicBezTo>
                  <a:lnTo>
                    <a:pt x="2137363" y="208325"/>
                  </a:lnTo>
                  <a:cubicBezTo>
                    <a:pt x="2137363" y="223311"/>
                    <a:pt x="2131410" y="237683"/>
                    <a:pt x="2120813" y="248279"/>
                  </a:cubicBezTo>
                  <a:cubicBezTo>
                    <a:pt x="2110217" y="258876"/>
                    <a:pt x="2095845" y="264829"/>
                    <a:pt x="2080859" y="264829"/>
                  </a:cubicBezTo>
                  <a:lnTo>
                    <a:pt x="56504" y="264829"/>
                  </a:lnTo>
                  <a:cubicBezTo>
                    <a:pt x="41518" y="264829"/>
                    <a:pt x="27146" y="258876"/>
                    <a:pt x="16550" y="248279"/>
                  </a:cubicBezTo>
                  <a:cubicBezTo>
                    <a:pt x="5953" y="237683"/>
                    <a:pt x="0" y="223311"/>
                    <a:pt x="0" y="208325"/>
                  </a:cubicBezTo>
                  <a:lnTo>
                    <a:pt x="0" y="56504"/>
                  </a:lnTo>
                  <a:cubicBezTo>
                    <a:pt x="0" y="41518"/>
                    <a:pt x="5953" y="27146"/>
                    <a:pt x="16550" y="16550"/>
                  </a:cubicBezTo>
                  <a:cubicBezTo>
                    <a:pt x="27146" y="5953"/>
                    <a:pt x="41518" y="0"/>
                    <a:pt x="565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37363" cy="302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47074" y="8440014"/>
            <a:ext cx="432550" cy="432550"/>
          </a:xfrm>
          <a:custGeom>
            <a:avLst/>
            <a:gdLst/>
            <a:ahLst/>
            <a:cxnLst/>
            <a:rect l="l" t="t" r="r" b="b"/>
            <a:pathLst>
              <a:path w="432550" h="432550">
                <a:moveTo>
                  <a:pt x="0" y="0"/>
                </a:moveTo>
                <a:lnTo>
                  <a:pt x="432550" y="0"/>
                </a:lnTo>
                <a:lnTo>
                  <a:pt x="432550" y="432550"/>
                </a:lnTo>
                <a:lnTo>
                  <a:pt x="0" y="432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1291344" y="1772271"/>
            <a:ext cx="5246370" cy="5181705"/>
            <a:chOff x="0" y="0"/>
            <a:chExt cx="955596" cy="9438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55596" cy="943818"/>
            </a:xfrm>
            <a:custGeom>
              <a:avLst/>
              <a:gdLst/>
              <a:ahLst/>
              <a:cxnLst/>
              <a:rect l="l" t="t" r="r" b="b"/>
              <a:pathLst>
                <a:path w="955596" h="943818">
                  <a:moveTo>
                    <a:pt x="0" y="0"/>
                  </a:moveTo>
                  <a:lnTo>
                    <a:pt x="955596" y="0"/>
                  </a:lnTo>
                  <a:lnTo>
                    <a:pt x="955596" y="943818"/>
                  </a:lnTo>
                  <a:lnTo>
                    <a:pt x="0" y="943818"/>
                  </a:lnTo>
                  <a:close/>
                </a:path>
              </a:pathLst>
            </a:custGeom>
            <a:blipFill>
              <a:blip r:embed="rId4"/>
              <a:stretch>
                <a:fillRect l="-21169" r="-10487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888604" y="980088"/>
            <a:ext cx="9613762" cy="379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15"/>
              </a:lnSpc>
            </a:pPr>
            <a:r>
              <a:rPr lang="en-US" sz="14615" spc="-26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 QUIÉN NOS DIRIGIMOS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8692" y="4529456"/>
            <a:ext cx="7868381" cy="1709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Localito está pensado principalmente para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dueños 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trabajadores 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pequeños comercios de barrio que necesitan administrar su negocio de forma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simple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sin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depender 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sistemas </a:t>
            </a: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complejos</a:t>
            </a: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81196" y="6607867"/>
            <a:ext cx="6002257" cy="35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114" b="1">
                <a:solidFill>
                  <a:srgbClr val="24497B"/>
                </a:solidFill>
                <a:latin typeface="Inter Bold"/>
                <a:ea typeface="Inter Bold"/>
                <a:cs typeface="Inter Bold"/>
                <a:sym typeface="Inter Bold"/>
              </a:rPr>
              <a:t>ALMACENES, BAZARES Y MINIMARKETS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81196" y="7256124"/>
            <a:ext cx="6778363" cy="147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114" b="1">
                <a:solidFill>
                  <a:srgbClr val="24497B"/>
                </a:solidFill>
                <a:latin typeface="Inter Bold"/>
                <a:ea typeface="Inter Bold"/>
                <a:cs typeface="Inter Bold"/>
                <a:sym typeface="Inter Bold"/>
              </a:rPr>
              <a:t>NEGOCIOS CON GESTIÓN MANUAL O DESORDENADA</a:t>
            </a:r>
          </a:p>
          <a:p>
            <a:pPr algn="l">
              <a:lnSpc>
                <a:spcPts val="2960"/>
              </a:lnSpc>
            </a:pPr>
            <a:endParaRPr lang="en-US" sz="2114" b="1">
              <a:solidFill>
                <a:srgbClr val="24497B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2960"/>
              </a:lnSpc>
            </a:pPr>
            <a:endParaRPr lang="en-US" sz="2114" b="1">
              <a:solidFill>
                <a:srgbClr val="24497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521188" y="8289856"/>
            <a:ext cx="6378057" cy="147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114" b="1">
                <a:solidFill>
                  <a:srgbClr val="24497B"/>
                </a:solidFill>
                <a:latin typeface="Inter Bold"/>
                <a:ea typeface="Inter Bold"/>
                <a:cs typeface="Inter Bold"/>
                <a:sym typeface="Inter Bold"/>
              </a:rPr>
              <a:t>COMERCIANTES CON DISTINTA EXPERIENCIA DIGITAL</a:t>
            </a:r>
          </a:p>
          <a:p>
            <a:pPr algn="l">
              <a:lnSpc>
                <a:spcPts val="2960"/>
              </a:lnSpc>
            </a:pPr>
            <a:endParaRPr lang="en-US" sz="2114" b="1">
              <a:solidFill>
                <a:srgbClr val="24497B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2960"/>
              </a:lnSpc>
            </a:pPr>
            <a:endParaRPr lang="en-US" sz="2114" b="1">
              <a:solidFill>
                <a:srgbClr val="24497B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896833" y="7207863"/>
            <a:ext cx="4035392" cy="232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Buscamos facilitar la gestión diaria de negocios que n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e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c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e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sita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n 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c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o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ntrol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ar 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ve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n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tas, inv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e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ntari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o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, 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c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aja y f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i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ad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os 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desde 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un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a sola pla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t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af</a:t>
            </a:r>
            <a:r>
              <a:rPr lang="en-US" sz="1885" i="1" u="non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o</a:t>
            </a:r>
            <a:r>
              <a:rPr lang="en-US" sz="1885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rma, accesible desde el computador o celular.</a:t>
            </a:r>
          </a:p>
          <a:p>
            <a:pPr algn="ctr">
              <a:lnSpc>
                <a:spcPts val="2640"/>
              </a:lnSpc>
            </a:pPr>
            <a:endParaRPr lang="en-US" sz="1885" i="1">
              <a:solidFill>
                <a:srgbClr val="FFFFFF"/>
              </a:solidFill>
              <a:latin typeface="Inter Italics"/>
              <a:ea typeface="Inter Italics"/>
              <a:cs typeface="Inter Italics"/>
              <a:sym typeface="Inter Italics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16452356" y="158384"/>
            <a:ext cx="1613887" cy="161388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4" name="Freeform 24"/>
          <p:cNvSpPr/>
          <p:nvPr/>
        </p:nvSpPr>
        <p:spPr>
          <a:xfrm>
            <a:off x="-2746032" y="8872564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2" y="0"/>
                </a:lnTo>
                <a:lnTo>
                  <a:pt x="22211182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51595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82931" y="386400"/>
            <a:ext cx="13292828" cy="3790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15"/>
              </a:lnSpc>
            </a:pPr>
            <a:r>
              <a:rPr lang="en-US" sz="14615" spc="-26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FUNCIONALIDADES PRINCIPALES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028869" y="4119952"/>
            <a:ext cx="10230261" cy="852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45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Localito integra las principales operaciones de un comercio de barrio en una sola plataforma.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2241" y="5930420"/>
            <a:ext cx="3459080" cy="47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5"/>
              </a:lnSpc>
            </a:pPr>
            <a:r>
              <a:rPr lang="en-US" sz="3595" spc="-6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VENTAS Y CAJA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12241" y="6580804"/>
            <a:ext cx="3459080" cy="137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1932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Registro de ventas, medios de pago, control de caja y seguimiento de cuentas fiadas.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51787" y="5930420"/>
            <a:ext cx="3579162" cy="47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5"/>
              </a:lnSpc>
            </a:pPr>
            <a:r>
              <a:rPr lang="en-US" sz="3595" spc="-6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INVENTARIO Y GESTIÓN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787" y="6580804"/>
            <a:ext cx="3459080" cy="137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1932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Administración de productos, stock, clientes, compras y proveedores desde un mismo sistema.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16679" y="5930420"/>
            <a:ext cx="4139545" cy="47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5"/>
              </a:lnSpc>
            </a:pPr>
            <a:r>
              <a:rPr lang="en-US" sz="3595" spc="-6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TECNOLOGÍA Y MOVILIDAD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16679" y="6580804"/>
            <a:ext cx="4419736" cy="1370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1932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PWA accesible desde distintos dispositivos, lectura de códigos de barras, funcionamiento ante fallas de conexión y herramientas asistidas.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6743651" y="5426709"/>
            <a:ext cx="0" cy="2403441"/>
          </a:xfrm>
          <a:prstGeom prst="line">
            <a:avLst/>
          </a:prstGeom>
          <a:ln w="38100" cap="flat">
            <a:solidFill>
              <a:srgbClr val="24497B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1" name="AutoShape 11"/>
          <p:cNvSpPr/>
          <p:nvPr/>
        </p:nvSpPr>
        <p:spPr>
          <a:xfrm flipV="1">
            <a:off x="11819004" y="5426709"/>
            <a:ext cx="0" cy="2403441"/>
          </a:xfrm>
          <a:prstGeom prst="line">
            <a:avLst/>
          </a:prstGeom>
          <a:ln w="38100" cap="flat">
            <a:solidFill>
              <a:srgbClr val="24497B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2" name="Freeform 12"/>
          <p:cNvSpPr/>
          <p:nvPr/>
        </p:nvSpPr>
        <p:spPr>
          <a:xfrm>
            <a:off x="-3413347" y="7798555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51595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6744486" y="140096"/>
            <a:ext cx="1403744" cy="140374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597700" y="6650138"/>
            <a:ext cx="15661600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oval" w="lg" len="lg"/>
          </a:ln>
        </p:spPr>
      </p:sp>
      <p:grpSp>
        <p:nvGrpSpPr>
          <p:cNvPr id="3" name="Group 3"/>
          <p:cNvGrpSpPr/>
          <p:nvPr/>
        </p:nvGrpSpPr>
        <p:grpSpPr>
          <a:xfrm>
            <a:off x="1028700" y="6099003"/>
            <a:ext cx="1102269" cy="110226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181338" y="6099003"/>
            <a:ext cx="1102269" cy="110226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75696" y="6099003"/>
            <a:ext cx="1102269" cy="110226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770054" y="6099003"/>
            <a:ext cx="1102269" cy="110226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674113" y="78684"/>
            <a:ext cx="1613887" cy="161388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9144000" y="1740197"/>
            <a:ext cx="8115300" cy="4103299"/>
          </a:xfrm>
          <a:custGeom>
            <a:avLst/>
            <a:gdLst/>
            <a:ahLst/>
            <a:cxnLst/>
            <a:rect l="l" t="t" r="r" b="b"/>
            <a:pathLst>
              <a:path w="8115300" h="4103299">
                <a:moveTo>
                  <a:pt x="0" y="0"/>
                </a:moveTo>
                <a:lnTo>
                  <a:pt x="8115300" y="0"/>
                </a:lnTo>
                <a:lnTo>
                  <a:pt x="8115300" y="4103298"/>
                </a:lnTo>
                <a:lnTo>
                  <a:pt x="0" y="4103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82172" y="1117221"/>
            <a:ext cx="8696861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16"/>
              </a:lnSpc>
            </a:pPr>
            <a:r>
              <a:rPr lang="en-US" sz="7516" spc="-13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OBJETIVO GENERAL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0978" y="6379972"/>
            <a:ext cx="697713" cy="62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9"/>
              </a:lnSpc>
            </a:pPr>
            <a:r>
              <a:rPr lang="en-US" sz="4719" spc="-8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7442619"/>
            <a:ext cx="2972440" cy="38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2943" spc="-5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ANALIZAR Y VALIDAR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8152153"/>
            <a:ext cx="2715518" cy="1102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4"/>
              </a:lnSpc>
            </a:pPr>
            <a:r>
              <a:rPr lang="en-US" sz="158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Identificar las principales necesidades operacionales y comerciales de los comercios de barrio.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83616" y="6379972"/>
            <a:ext cx="697713" cy="62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9"/>
              </a:lnSpc>
            </a:pPr>
            <a:r>
              <a:rPr lang="en-US" sz="4719" spc="-8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81338" y="7442619"/>
            <a:ext cx="2972440" cy="38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2943" spc="-5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DEFINIR Y DISEÑAR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81338" y="7821554"/>
            <a:ext cx="2832014" cy="297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Alcance y arquitectura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677974" y="6379972"/>
            <a:ext cx="697713" cy="62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9"/>
              </a:lnSpc>
            </a:pPr>
            <a:r>
              <a:rPr lang="en-US" sz="4719" spc="-8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75696" y="7442619"/>
            <a:ext cx="2972440" cy="38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2943" spc="-5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IMPLEMENTAR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75696" y="7844641"/>
            <a:ext cx="2832014" cy="297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MVP de Localito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972332" y="6379972"/>
            <a:ext cx="697713" cy="62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9"/>
              </a:lnSpc>
            </a:pPr>
            <a:r>
              <a:rPr lang="en-US" sz="4719" spc="-8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770054" y="7442619"/>
            <a:ext cx="3489246" cy="382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2943" spc="-5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VERIFICAR Y EVALUAR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774560" y="7844641"/>
            <a:ext cx="3299615" cy="297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Calidad y propuesta de valor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82173" y="2165402"/>
            <a:ext cx="7798954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38"/>
              </a:lnSpc>
              <a:spcBef>
                <a:spcPct val="0"/>
              </a:spcBef>
            </a:pP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Diseñar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e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implementar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PWA SaaS multi-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negocio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que </a:t>
            </a:r>
            <a:r>
              <a:rPr lang="en-US" sz="2027" b="1" dirty="0" err="1" smtClean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permita</a:t>
            </a:r>
            <a:r>
              <a:rPr lang="en-US" sz="2027" b="1" dirty="0" smtClean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a </a:t>
            </a:r>
            <a:r>
              <a:rPr lang="en-US" sz="2027" b="1" dirty="0" err="1" smtClean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pequeños</a:t>
            </a:r>
            <a:r>
              <a:rPr lang="en-US" sz="2027" b="1" dirty="0" smtClean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comercios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de barrio, </a:t>
            </a:r>
            <a:r>
              <a:rPr lang="en-US" sz="2027" b="1" dirty="0" err="1" smtClean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gestionar</a:t>
            </a:r>
            <a:r>
              <a:rPr lang="en-US" sz="2027" b="1" dirty="0" smtClean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ventas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,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inventario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, clientes,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fiados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,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caja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y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compras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desde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dispositivos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móviles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,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aplicando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seguridad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,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trazabilidad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,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pruebas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y un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modelo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de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suscripción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sujeto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a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validación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7787146"/>
            <a:ext cx="278130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18"/>
              </a:lnSpc>
              <a:spcBef>
                <a:spcPct val="0"/>
              </a:spcBef>
            </a:pPr>
            <a:r>
              <a:rPr lang="en-US" sz="17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Necesidades</a:t>
            </a:r>
            <a:r>
              <a:rPr lang="en-US" sz="17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del </a:t>
            </a:r>
            <a:r>
              <a:rPr lang="en-US" sz="17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usuario</a:t>
            </a:r>
            <a:endParaRPr lang="en-US" sz="17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5181338" y="8152153"/>
            <a:ext cx="2536293" cy="79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Definir requisitos, backlog, arquitectura multi-negocio y modelo de datos.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75696" y="8152153"/>
            <a:ext cx="2457395" cy="79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Desarrollar e integrar los módulos prioritarios y la experiencia PWA.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794228" y="8152153"/>
            <a:ext cx="3123691" cy="79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Verificar seguridad, usabilidad y funcionamiento, y validar la solución con usuarios.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86524" y="4823890"/>
            <a:ext cx="8257476" cy="10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6"/>
              </a:lnSpc>
            </a:pPr>
            <a:r>
              <a:rPr lang="en-US" sz="7516" spc="-13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OBJETIVOS ESPECIFICOS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816018" y="5853020"/>
            <a:ext cx="2374344" cy="299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8"/>
              </a:lnSpc>
              <a:spcBef>
                <a:spcPct val="0"/>
              </a:spcBef>
            </a:pPr>
            <a:r>
              <a:rPr lang="en-US" sz="1727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MVP actual de Localito</a:t>
            </a:r>
          </a:p>
        </p:txBody>
      </p:sp>
      <p:sp>
        <p:nvSpPr>
          <p:cNvPr id="38" name="Freeform 38"/>
          <p:cNvSpPr/>
          <p:nvPr/>
        </p:nvSpPr>
        <p:spPr>
          <a:xfrm>
            <a:off x="-3593470" y="8770933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51595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880088"/>
            <a:ext cx="7514120" cy="1491264"/>
            <a:chOff x="0" y="0"/>
            <a:chExt cx="2137363" cy="4241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7363" cy="424184"/>
            </a:xfrm>
            <a:custGeom>
              <a:avLst/>
              <a:gdLst/>
              <a:ahLst/>
              <a:cxnLst/>
              <a:rect l="l" t="t" r="r" b="b"/>
              <a:pathLst>
                <a:path w="2137363" h="424184">
                  <a:moveTo>
                    <a:pt x="52546" y="0"/>
                  </a:moveTo>
                  <a:lnTo>
                    <a:pt x="2084817" y="0"/>
                  </a:lnTo>
                  <a:cubicBezTo>
                    <a:pt x="2098753" y="0"/>
                    <a:pt x="2112118" y="5536"/>
                    <a:pt x="2121973" y="15390"/>
                  </a:cubicBezTo>
                  <a:cubicBezTo>
                    <a:pt x="2131827" y="25245"/>
                    <a:pt x="2137363" y="38610"/>
                    <a:pt x="2137363" y="52546"/>
                  </a:cubicBezTo>
                  <a:lnTo>
                    <a:pt x="2137363" y="371638"/>
                  </a:lnTo>
                  <a:cubicBezTo>
                    <a:pt x="2137363" y="400659"/>
                    <a:pt x="2113837" y="424184"/>
                    <a:pt x="2084817" y="424184"/>
                  </a:cubicBezTo>
                  <a:lnTo>
                    <a:pt x="52546" y="424184"/>
                  </a:lnTo>
                  <a:cubicBezTo>
                    <a:pt x="38610" y="424184"/>
                    <a:pt x="25245" y="418648"/>
                    <a:pt x="15390" y="408794"/>
                  </a:cubicBezTo>
                  <a:cubicBezTo>
                    <a:pt x="5536" y="398940"/>
                    <a:pt x="0" y="385574"/>
                    <a:pt x="0" y="371638"/>
                  </a:cubicBezTo>
                  <a:lnTo>
                    <a:pt x="0" y="52546"/>
                  </a:lnTo>
                  <a:cubicBezTo>
                    <a:pt x="0" y="38610"/>
                    <a:pt x="5536" y="25245"/>
                    <a:pt x="15390" y="15390"/>
                  </a:cubicBezTo>
                  <a:cubicBezTo>
                    <a:pt x="25245" y="5536"/>
                    <a:pt x="38610" y="0"/>
                    <a:pt x="52546" y="0"/>
                  </a:cubicBezTo>
                  <a:close/>
                </a:path>
              </a:pathLst>
            </a:custGeom>
            <a:solidFill>
              <a:srgbClr val="4B716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37363" cy="452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98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446942" y="3026482"/>
            <a:ext cx="6635645" cy="121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172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ALEXANDER PATIÑO — PRODUCT OWNER (PO)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Define y prioriza el Product Backlog.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Representa las necesidades del producto y usuarios.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 el valor de los incrementos.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5654" y="1340441"/>
            <a:ext cx="7678083" cy="1482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16"/>
              </a:lnSpc>
            </a:pPr>
            <a:r>
              <a:rPr lang="en-US" sz="11116" spc="-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METODOLOGÍA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28957" y="1340441"/>
            <a:ext cx="9419273" cy="1482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16"/>
              </a:lnSpc>
            </a:pPr>
            <a:r>
              <a:rPr lang="en-US" sz="11116" spc="-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EQUIPO LOCALITO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3586242"/>
            <a:ext cx="1064272" cy="106427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470302" y="3586242"/>
            <a:ext cx="1064272" cy="106427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6290208"/>
            <a:ext cx="1064272" cy="106427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470302" y="6290208"/>
            <a:ext cx="1064272" cy="1064272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16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46969" y="3848172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4885512"/>
            <a:ext cx="2869977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Descubrir y definir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88571" y="3848172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70302" y="4885512"/>
            <a:ext cx="3011817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842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Construir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6969" y="6552138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7589477"/>
            <a:ext cx="3210209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2"/>
              </a:lnSpc>
              <a:spcBef>
                <a:spcPct val="0"/>
              </a:spcBef>
            </a:pPr>
            <a:r>
              <a:rPr lang="en-US" sz="2842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</a:t>
            </a:r>
            <a:r>
              <a:rPr lang="en-US" sz="2842" u="none" strike="noStrike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erificar y validar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88571" y="6552138"/>
            <a:ext cx="827735" cy="616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4556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70302" y="7589477"/>
            <a:ext cx="2869977" cy="372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2"/>
              </a:lnSpc>
              <a:spcBef>
                <a:spcPct val="0"/>
              </a:spcBef>
            </a:pPr>
            <a:r>
              <a:rPr lang="en-US" sz="2842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</a:t>
            </a:r>
            <a:r>
              <a:rPr lang="en-US" sz="2842" u="none" strike="noStrike" spc="-5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ejorar y cerrar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5274046"/>
            <a:ext cx="3050952" cy="53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Necesidades, requisitos, alcance, backlog y arquitectura.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470302" y="5304328"/>
            <a:ext cx="2869977" cy="53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Desarrollo incremental de los módulos del MVP.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7990231"/>
            <a:ext cx="2734391" cy="79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Pruebas, seguridad, usabilidad y demostraciones con usuarios.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470302" y="7981496"/>
            <a:ext cx="2869977" cy="799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"/>
              </a:lnSpc>
              <a:spcBef>
                <a:spcPct val="0"/>
              </a:spcBef>
            </a:pPr>
            <a:r>
              <a:rPr lang="en-US" sz="15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Correcciones, documentación, conclusiones y preparación de la defensa.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144000" y="4650515"/>
            <a:ext cx="7514120" cy="1669101"/>
            <a:chOff x="0" y="0"/>
            <a:chExt cx="2137363" cy="47476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37363" cy="474769"/>
            </a:xfrm>
            <a:custGeom>
              <a:avLst/>
              <a:gdLst/>
              <a:ahLst/>
              <a:cxnLst/>
              <a:rect l="l" t="t" r="r" b="b"/>
              <a:pathLst>
                <a:path w="2137363" h="474769">
                  <a:moveTo>
                    <a:pt x="52546" y="0"/>
                  </a:moveTo>
                  <a:lnTo>
                    <a:pt x="2084817" y="0"/>
                  </a:lnTo>
                  <a:cubicBezTo>
                    <a:pt x="2098753" y="0"/>
                    <a:pt x="2112118" y="5536"/>
                    <a:pt x="2121973" y="15390"/>
                  </a:cubicBezTo>
                  <a:cubicBezTo>
                    <a:pt x="2131827" y="25245"/>
                    <a:pt x="2137363" y="38610"/>
                    <a:pt x="2137363" y="52546"/>
                  </a:cubicBezTo>
                  <a:lnTo>
                    <a:pt x="2137363" y="422223"/>
                  </a:lnTo>
                  <a:cubicBezTo>
                    <a:pt x="2137363" y="451244"/>
                    <a:pt x="2113837" y="474769"/>
                    <a:pt x="2084817" y="474769"/>
                  </a:cubicBezTo>
                  <a:lnTo>
                    <a:pt x="52546" y="474769"/>
                  </a:lnTo>
                  <a:cubicBezTo>
                    <a:pt x="38610" y="474769"/>
                    <a:pt x="25245" y="469233"/>
                    <a:pt x="15390" y="459379"/>
                  </a:cubicBezTo>
                  <a:cubicBezTo>
                    <a:pt x="5536" y="449525"/>
                    <a:pt x="0" y="436159"/>
                    <a:pt x="0" y="422223"/>
                  </a:cubicBezTo>
                  <a:lnTo>
                    <a:pt x="0" y="52546"/>
                  </a:lnTo>
                  <a:cubicBezTo>
                    <a:pt x="0" y="38610"/>
                    <a:pt x="5536" y="25245"/>
                    <a:pt x="15390" y="15390"/>
                  </a:cubicBezTo>
                  <a:cubicBezTo>
                    <a:pt x="25245" y="5536"/>
                    <a:pt x="38610" y="0"/>
                    <a:pt x="52546" y="0"/>
                  </a:cubicBezTo>
                  <a:close/>
                </a:path>
              </a:pathLst>
            </a:custGeom>
            <a:solidFill>
              <a:srgbClr val="4B7166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2137363" cy="503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98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446942" y="4915152"/>
            <a:ext cx="6635645" cy="121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172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SAMUEL SOLÍS — SCRUM MASTER (SM)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Facilita la aplicación de Scrum.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Coordina ceremonias y seguimiento.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Ayuda a remover impedimentos del equipo.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144000" y="6595841"/>
            <a:ext cx="7514120" cy="1701149"/>
            <a:chOff x="0" y="0"/>
            <a:chExt cx="2137363" cy="48388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37363" cy="483885"/>
            </a:xfrm>
            <a:custGeom>
              <a:avLst/>
              <a:gdLst/>
              <a:ahLst/>
              <a:cxnLst/>
              <a:rect l="l" t="t" r="r" b="b"/>
              <a:pathLst>
                <a:path w="2137363" h="483885">
                  <a:moveTo>
                    <a:pt x="52546" y="0"/>
                  </a:moveTo>
                  <a:lnTo>
                    <a:pt x="2084817" y="0"/>
                  </a:lnTo>
                  <a:cubicBezTo>
                    <a:pt x="2098753" y="0"/>
                    <a:pt x="2112118" y="5536"/>
                    <a:pt x="2121973" y="15390"/>
                  </a:cubicBezTo>
                  <a:cubicBezTo>
                    <a:pt x="2131827" y="25245"/>
                    <a:pt x="2137363" y="38610"/>
                    <a:pt x="2137363" y="52546"/>
                  </a:cubicBezTo>
                  <a:lnTo>
                    <a:pt x="2137363" y="431339"/>
                  </a:lnTo>
                  <a:cubicBezTo>
                    <a:pt x="2137363" y="460360"/>
                    <a:pt x="2113837" y="483885"/>
                    <a:pt x="2084817" y="483885"/>
                  </a:cubicBezTo>
                  <a:lnTo>
                    <a:pt x="52546" y="483885"/>
                  </a:lnTo>
                  <a:cubicBezTo>
                    <a:pt x="23526" y="483885"/>
                    <a:pt x="0" y="460360"/>
                    <a:pt x="0" y="431339"/>
                  </a:cubicBezTo>
                  <a:lnTo>
                    <a:pt x="0" y="52546"/>
                  </a:lnTo>
                  <a:cubicBezTo>
                    <a:pt x="0" y="38610"/>
                    <a:pt x="5536" y="25245"/>
                    <a:pt x="15390" y="15390"/>
                  </a:cubicBezTo>
                  <a:cubicBezTo>
                    <a:pt x="25245" y="5536"/>
                    <a:pt x="38610" y="0"/>
                    <a:pt x="52546" y="0"/>
                  </a:cubicBezTo>
                  <a:close/>
                </a:path>
              </a:pathLst>
            </a:custGeom>
            <a:solidFill>
              <a:srgbClr val="4B7166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2137363" cy="512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98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446942" y="6742234"/>
            <a:ext cx="6635645" cy="121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172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CAMILO GONZÁLEZ — DEVELOPER (DEV)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Diseño y desarrollo de la solución.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Arquitectura, desarrollo full stack, datos e integraciones.</a:t>
            </a:r>
          </a:p>
          <a:p>
            <a:pPr marL="371404" lvl="1" indent="-185702" algn="l">
              <a:lnSpc>
                <a:spcPts val="2408"/>
              </a:lnSpc>
              <a:buFont typeface="Arial"/>
              <a:buChar char="•"/>
            </a:pPr>
            <a:r>
              <a:rPr lang="en-US" sz="172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Implementación, pruebas técnicas y despliegue.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6744486" y="140096"/>
            <a:ext cx="1403744" cy="1403744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2" name="Freeform 42"/>
          <p:cNvSpPr/>
          <p:nvPr/>
        </p:nvSpPr>
        <p:spPr>
          <a:xfrm>
            <a:off x="-3680429" y="8449613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1595"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745654" y="2875735"/>
            <a:ext cx="527414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38"/>
              </a:lnSpc>
              <a:spcBef>
                <a:spcPct val="0"/>
              </a:spcBef>
            </a:pP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Scrum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adaptado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al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contexto</a:t>
            </a:r>
            <a:r>
              <a:rPr lang="en-US" sz="20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0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académico</a:t>
            </a:r>
            <a:endParaRPr lang="en-US" sz="20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9920041" y="8535115"/>
            <a:ext cx="5689447" cy="532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  <a:spcBef>
                <a:spcPct val="0"/>
              </a:spcBef>
            </a:pPr>
            <a:r>
              <a:rPr lang="en-US" sz="1527" b="1" i="1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Los roles Scrum definen responsabilidades principales, manteniendo la colaboración transversal del equipo.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9395" y="2431466"/>
            <a:ext cx="7471881" cy="1643118"/>
            <a:chOff x="0" y="0"/>
            <a:chExt cx="1967903" cy="4327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57294" y="2431466"/>
            <a:ext cx="7471881" cy="1643118"/>
            <a:chOff x="0" y="0"/>
            <a:chExt cx="1967903" cy="4327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47682" y="978288"/>
            <a:ext cx="7083594" cy="116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6"/>
              </a:lnSpc>
            </a:pPr>
            <a:r>
              <a:rPr lang="en-US" sz="8816" spc="-15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PERFIL DE EGRESO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59395" y="4187092"/>
            <a:ext cx="7471881" cy="1643118"/>
            <a:chOff x="0" y="0"/>
            <a:chExt cx="1967903" cy="4327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59395" y="5944510"/>
            <a:ext cx="7471881" cy="1643118"/>
            <a:chOff x="0" y="0"/>
            <a:chExt cx="1967903" cy="4327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59395" y="7701929"/>
            <a:ext cx="7471881" cy="1643118"/>
            <a:chOff x="0" y="0"/>
            <a:chExt cx="1967903" cy="43275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47682" y="2561259"/>
            <a:ext cx="7083594" cy="6591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Desarrollo</a:t>
            </a: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de software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 err="1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Construcción</a:t>
            </a:r>
            <a:r>
              <a:rPr lang="en-US" sz="2427" dirty="0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integración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solución full stack.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Modelamiento</a:t>
            </a: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de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datos</a:t>
            </a:r>
            <a:endParaRPr lang="en-US" sz="25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 err="1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Diseño</a:t>
            </a:r>
            <a:r>
              <a:rPr lang="en-US" sz="2427" dirty="0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arquitectura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multi-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negocio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información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separada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consistente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Gestión</a:t>
            </a: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de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proyectos</a:t>
            </a:r>
            <a:endParaRPr lang="en-US" sz="25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Backlog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sprints,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riesgos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responsables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y control de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avance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Pruebas</a:t>
            </a: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y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calidad</a:t>
            </a:r>
            <a:endParaRPr lang="en-US" sz="25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 err="1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Criterios</a:t>
            </a:r>
            <a:r>
              <a:rPr lang="en-US" sz="2427" dirty="0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aceptación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pruebas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automatizadas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validación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manual.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976032" y="978288"/>
            <a:ext cx="5202308" cy="116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6"/>
              </a:lnSpc>
            </a:pPr>
            <a:r>
              <a:rPr lang="en-US" sz="8816" spc="-15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FACTIBILIDAD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257294" y="4187092"/>
            <a:ext cx="7471881" cy="1643118"/>
            <a:chOff x="0" y="0"/>
            <a:chExt cx="1967903" cy="43275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57294" y="5944510"/>
            <a:ext cx="7471881" cy="1643118"/>
            <a:chOff x="0" y="0"/>
            <a:chExt cx="1967903" cy="43275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57294" y="7701929"/>
            <a:ext cx="7471881" cy="1643118"/>
            <a:chOff x="0" y="0"/>
            <a:chExt cx="1967903" cy="43275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67903" cy="432755"/>
            </a:xfrm>
            <a:custGeom>
              <a:avLst/>
              <a:gdLst/>
              <a:ahLst/>
              <a:cxnLst/>
              <a:rect l="l" t="t" r="r" b="b"/>
              <a:pathLst>
                <a:path w="1967903" h="432755">
                  <a:moveTo>
                    <a:pt x="1764703" y="0"/>
                  </a:moveTo>
                  <a:cubicBezTo>
                    <a:pt x="1876927" y="0"/>
                    <a:pt x="1967903" y="96876"/>
                    <a:pt x="1967903" y="216378"/>
                  </a:cubicBezTo>
                  <a:cubicBezTo>
                    <a:pt x="1967903" y="335880"/>
                    <a:pt x="1876927" y="432755"/>
                    <a:pt x="1764703" y="432755"/>
                  </a:cubicBezTo>
                  <a:lnTo>
                    <a:pt x="203200" y="432755"/>
                  </a:lnTo>
                  <a:cubicBezTo>
                    <a:pt x="90976" y="432755"/>
                    <a:pt x="0" y="335880"/>
                    <a:pt x="0" y="216378"/>
                  </a:cubicBezTo>
                  <a:cubicBezTo>
                    <a:pt x="0" y="968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967903" cy="470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38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713310" y="2561259"/>
            <a:ext cx="7015865" cy="6991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18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semanas</a:t>
            </a: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de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desarrollo</a:t>
            </a:r>
            <a:endParaRPr lang="en-US" sz="25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Proyecto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organizado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MVP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priorizado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Tecnologías</a:t>
            </a: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disponibles</a:t>
            </a:r>
            <a:endParaRPr lang="en-US" sz="25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React 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· Node.js ·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TypeScript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· PostgreSQL ·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Git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· PWA.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Base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existente</a:t>
            </a:r>
            <a:endParaRPr lang="en-US" sz="25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 err="1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Repositorio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prototipo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funcional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conocimiento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previo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equipo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Alcance</a:t>
            </a:r>
            <a:r>
              <a:rPr lang="en-US" sz="2527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sz="2527" b="1" dirty="0" err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controlado</a:t>
            </a:r>
            <a:endParaRPr lang="en-US" sz="2527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 dirty="0" smtClean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Las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integraciones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complejas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quedan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fuera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del MVP para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proteger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viabilidad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2427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proyecto</a:t>
            </a:r>
            <a:r>
              <a:rPr lang="en-US" sz="2427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endParaRPr lang="en-US" sz="2427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16659295" y="140096"/>
            <a:ext cx="1488935" cy="1488935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32" name="AutoShape 32"/>
          <p:cNvSpPr/>
          <p:nvPr/>
        </p:nvSpPr>
        <p:spPr>
          <a:xfrm>
            <a:off x="1059395" y="2126156"/>
            <a:ext cx="7471881" cy="0"/>
          </a:xfrm>
          <a:prstGeom prst="line">
            <a:avLst/>
          </a:prstGeom>
          <a:ln w="3810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33" name="AutoShape 33"/>
          <p:cNvSpPr/>
          <p:nvPr/>
        </p:nvSpPr>
        <p:spPr>
          <a:xfrm>
            <a:off x="9257294" y="2126156"/>
            <a:ext cx="7471881" cy="0"/>
          </a:xfrm>
          <a:prstGeom prst="line">
            <a:avLst/>
          </a:prstGeom>
          <a:ln w="3810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34" name="AutoShape 34"/>
          <p:cNvSpPr/>
          <p:nvPr/>
        </p:nvSpPr>
        <p:spPr>
          <a:xfrm flipV="1">
            <a:off x="8894285" y="2608884"/>
            <a:ext cx="0" cy="6492240"/>
          </a:xfrm>
          <a:prstGeom prst="line">
            <a:avLst/>
          </a:prstGeom>
          <a:ln w="3810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35" name="Freeform 35"/>
          <p:cNvSpPr/>
          <p:nvPr/>
        </p:nvSpPr>
        <p:spPr>
          <a:xfrm rot="-3068600">
            <a:off x="9386040" y="4025566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51595"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547002" y="9442062"/>
            <a:ext cx="13631338" cy="568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8"/>
              </a:lnSpc>
              <a:spcBef>
                <a:spcPct val="0"/>
              </a:spcBef>
            </a:pPr>
            <a:r>
              <a:rPr lang="en-US" sz="1627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El proyecto permite aplicar y profundizar competencias profesionales en arquitectura, desarrollo de software, bases de datos, seguridad y construcción de soluciones SaaS.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23183" y="8449081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5159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9009" y="2029274"/>
            <a:ext cx="12851602" cy="7229026"/>
          </a:xfrm>
          <a:custGeom>
            <a:avLst/>
            <a:gdLst/>
            <a:ahLst/>
            <a:cxnLst/>
            <a:rect l="l" t="t" r="r" b="b"/>
            <a:pathLst>
              <a:path w="12851602" h="7229026">
                <a:moveTo>
                  <a:pt x="0" y="0"/>
                </a:moveTo>
                <a:lnTo>
                  <a:pt x="12851603" y="0"/>
                </a:lnTo>
                <a:lnTo>
                  <a:pt x="12851603" y="7229026"/>
                </a:lnTo>
                <a:lnTo>
                  <a:pt x="0" y="7229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19720" y="462692"/>
            <a:ext cx="11848561" cy="1332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67"/>
              </a:lnSpc>
            </a:pPr>
            <a:r>
              <a:rPr lang="en-US" sz="10067" spc="-18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PLANIFICACIÓN GENERAL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13556" y="2820261"/>
            <a:ext cx="4460947" cy="6130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5"/>
              </a:lnSpc>
            </a:pPr>
            <a:endParaRPr dirty="0"/>
          </a:p>
          <a:p>
            <a:pPr>
              <a:lnSpc>
                <a:spcPts val="3745"/>
              </a:lnSpc>
            </a:pPr>
            <a:r>
              <a:rPr lang="es-ES" sz="2675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PLANIFICACIÓN CONTEMPLA UNA FASE INICIAL DE PREPARACIÓN Y 8 SPRINTS DISTRIBUIDOS A LO LARGO DE LAS 18 SEMANAS, PERMITIENDO ENTREGAS INCREMENTALES Y CAPACIDAD DE ADAPTACIÓN ANTE CAMBIOS.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44486" y="140096"/>
            <a:ext cx="1403744" cy="140374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6424" y="1694306"/>
            <a:ext cx="3834062" cy="6714431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464" y="1694305"/>
            <a:ext cx="3834062" cy="6714432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8385" y="1694305"/>
            <a:ext cx="3834062" cy="671443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204390" y="4375179"/>
            <a:ext cx="5529484" cy="1024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8"/>
              </a:lnSpc>
              <a:spcBef>
                <a:spcPct val="0"/>
              </a:spcBef>
            </a:pPr>
            <a:r>
              <a:rPr lang="en-US" sz="212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FASE 2 — Desarrollo</a:t>
            </a:r>
          </a:p>
          <a:p>
            <a:pPr algn="l">
              <a:lnSpc>
                <a:spcPts val="2698"/>
              </a:lnSpc>
              <a:spcBef>
                <a:spcPct val="0"/>
              </a:spcBef>
            </a:pPr>
            <a:r>
              <a:rPr lang="en-US" sz="19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Incremento funcional del MVP, repositorio, módulos principales e informe de calidad.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04390" y="5934046"/>
            <a:ext cx="5339042" cy="1024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8"/>
              </a:lnSpc>
              <a:spcBef>
                <a:spcPct val="0"/>
              </a:spcBef>
            </a:pPr>
            <a:r>
              <a:rPr lang="en-US" sz="212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FASE 3 — Validación y cierre</a:t>
            </a:r>
          </a:p>
          <a:p>
            <a:pPr algn="l">
              <a:lnSpc>
                <a:spcPts val="2698"/>
              </a:lnSpc>
              <a:spcBef>
                <a:spcPct val="0"/>
              </a:spcBef>
            </a:pPr>
            <a:r>
              <a:rPr lang="en-US" sz="19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Validación con usuarios, MVP desplegado, informe final y presentación.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40990" y="598811"/>
            <a:ext cx="10991742" cy="1012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8"/>
              </a:lnSpc>
            </a:pPr>
            <a:r>
              <a:rPr lang="en-US" sz="7668" spc="-13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EVIDENCIAS Y PLAN DE TRABAJO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04390" y="2957251"/>
            <a:ext cx="5887499" cy="1024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8"/>
              </a:lnSpc>
              <a:spcBef>
                <a:spcPct val="0"/>
              </a:spcBef>
            </a:pPr>
            <a:r>
              <a:rPr lang="en-US" sz="212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FASE 1 — Definición</a:t>
            </a:r>
          </a:p>
          <a:p>
            <a:pPr algn="l">
              <a:lnSpc>
                <a:spcPts val="2698"/>
              </a:lnSpc>
              <a:spcBef>
                <a:spcPct val="0"/>
              </a:spcBef>
            </a:pPr>
            <a:r>
              <a:rPr lang="en-US" sz="19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Validación del problema, cliente ideal, alcance, backlog y arquitectura.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64362" y="7293000"/>
            <a:ext cx="5339042" cy="266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  <a:spcBef>
                <a:spcPct val="0"/>
              </a:spcBef>
            </a:pPr>
            <a:r>
              <a:rPr lang="en-US" sz="1527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18 semanas · 3 fases · evidencia verificable en cada etapa</a:t>
            </a:r>
          </a:p>
        </p:txBody>
      </p:sp>
      <p:sp>
        <p:nvSpPr>
          <p:cNvPr id="12" name="Freeform 12"/>
          <p:cNvSpPr/>
          <p:nvPr/>
        </p:nvSpPr>
        <p:spPr>
          <a:xfrm rot="5400000">
            <a:off x="-13480148" y="4519209"/>
            <a:ext cx="22211183" cy="8117178"/>
          </a:xfrm>
          <a:custGeom>
            <a:avLst/>
            <a:gdLst/>
            <a:ahLst/>
            <a:cxnLst/>
            <a:rect l="l" t="t" r="r" b="b"/>
            <a:pathLst>
              <a:path w="22211183" h="8117178">
                <a:moveTo>
                  <a:pt x="0" y="0"/>
                </a:moveTo>
                <a:lnTo>
                  <a:pt x="22211183" y="0"/>
                </a:lnTo>
                <a:lnTo>
                  <a:pt x="22211183" y="8117177"/>
                </a:lnTo>
                <a:lnTo>
                  <a:pt x="0" y="8117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3920594" y="7949270"/>
            <a:ext cx="22211183" cy="5354508"/>
          </a:xfrm>
          <a:custGeom>
            <a:avLst/>
            <a:gdLst/>
            <a:ahLst/>
            <a:cxnLst/>
            <a:rect l="l" t="t" r="r" b="b"/>
            <a:pathLst>
              <a:path w="22211183" h="5354508">
                <a:moveTo>
                  <a:pt x="0" y="0"/>
                </a:moveTo>
                <a:lnTo>
                  <a:pt x="22211183" y="0"/>
                </a:lnTo>
                <a:lnTo>
                  <a:pt x="22211183" y="5354508"/>
                </a:lnTo>
                <a:lnTo>
                  <a:pt x="0" y="53545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51595"/>
            </a:stretch>
          </a:blipFill>
        </p:spPr>
      </p:sp>
      <p:sp>
        <p:nvSpPr>
          <p:cNvPr id="14" name="AutoShape 14"/>
          <p:cNvSpPr/>
          <p:nvPr/>
        </p:nvSpPr>
        <p:spPr>
          <a:xfrm>
            <a:off x="2244621" y="4197681"/>
            <a:ext cx="5489253" cy="0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2244621" y="5686078"/>
            <a:ext cx="5489253" cy="0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2244621" y="7144989"/>
            <a:ext cx="5489253" cy="0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3020" y="472555"/>
            <a:ext cx="1965448" cy="196544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307369" y="3141926"/>
            <a:ext cx="6663544" cy="379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15"/>
              </a:lnSpc>
            </a:pPr>
            <a:r>
              <a:rPr lang="en-US" sz="14615" spc="-26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MUCHAS GRACIAS!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54940" y="6693499"/>
            <a:ext cx="6168403" cy="423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55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Todo el negocio, en un solo lugar.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971</Words>
  <Application>Microsoft Office PowerPoint</Application>
  <PresentationFormat>Personalizado</PresentationFormat>
  <Paragraphs>136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Inter Bold Italics</vt:lpstr>
      <vt:lpstr>Arial</vt:lpstr>
      <vt:lpstr>Inter Bold</vt:lpstr>
      <vt:lpstr>Inter</vt:lpstr>
      <vt:lpstr>Calibri</vt:lpstr>
      <vt:lpstr>Inter Italics</vt:lpstr>
      <vt:lpstr>Anton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Proyecto</dc:title>
  <cp:lastModifiedBy>Usuario</cp:lastModifiedBy>
  <cp:revision>7</cp:revision>
  <dcterms:created xsi:type="dcterms:W3CDTF">2006-08-16T00:00:00Z</dcterms:created>
  <dcterms:modified xsi:type="dcterms:W3CDTF">2026-08-31T18:48:46Z</dcterms:modified>
  <dc:identifier>DAHTfnLUXRo</dc:identifier>
</cp:coreProperties>
</file>